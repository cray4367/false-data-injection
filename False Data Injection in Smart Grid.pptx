
<file path=[Content_Types].xml><?xml version="1.0" encoding="utf-8"?>
<Types xmlns="http://schemas.openxmlformats.org/package/2006/content-types">
  <Default Extension="svg" ContentType="image/svg+xml"/>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19.xml" ContentType="application/vnd.openxmlformats-officedocument.presentationml.slide+xml"/>
  <Override PartName="/ppt/notesSlides/notesSlide3.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7.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4.xml" ContentType="application/vnd.openxmlformats-officedocument.presentationml.notesSlide+xml"/>
  <Override PartName="/ppt/slideLayouts/slideLayout8.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notesSlides/notesSlide20.xml" ContentType="application/vnd.openxmlformats-officedocument.presentationml.notesSlide+xml"/>
  <Override PartName="/ppt/slides/slide15.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14.xml" ContentType="application/vnd.openxmlformats-officedocument.presentationml.slide+xml"/>
  <Override PartName="/ppt/slideMasters/slideMaster1.xml" ContentType="application/vnd.openxmlformats-officedocument.presentationml.slideMaster+xml"/>
  <Override PartName="/ppt/theme/theme2.xml" ContentType="application/vnd.openxmlformats-officedocument.theme+xml"/>
  <Override PartName="/ppt/notesSlides/notesSlide17.xml" ContentType="application/vnd.openxmlformats-officedocument.presentationml.notesSlid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slideLayouts/slideLayout6.xml" ContentType="application/vnd.openxmlformats-officedocument.presentationml.slideLayout+xml"/>
  <Override PartName="/ppt/presProps.xml" ContentType="application/vnd.openxmlformats-officedocument.presentationml.presProps+xml"/>
  <Override PartName="/ppt/notesSlides/notesSlide12.xml" ContentType="application/vnd.openxmlformats-officedocument.presentationml.notesSlide+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2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213406-02D4-B788-58BC-AB3945CC77D2}"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C29B9B5-E219-175F-EE49-BB5B940F431A}"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4BABD0-1B70-74A6-B75D-B95CD3E28D86}"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24987C-B68D-33CA-8774-5BDF9B576962}"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AAB32B-F5AE-C579-5EFD-E4041D382CEB}"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62D7213-5C24-02C4-1F5A-14EA9530A152}"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3FB649-C427-AC4F-4AB2-F5D3CFDD4173}"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28E68BB-4602-9B33-AE28-588E5E9067AF}"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5D11280-3A12-5367-D4E4-9D0C91C99EAF}"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8A7E65-654A-6B85-8163-FD0740CAA08C}"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A804F00-C0E2-27CB-88C6-EDA14D0305C3}"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62A22E2-84D7-270D-75D2-8822F38272BE}"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C481DD4-6E78-9A0A-737B-313BB46355F5}"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0A8A30-774B-3835-1887-F9A2EBB94BE1}"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21DFDE-0D7D-0BF2-9EF7-24773AE10C2F}"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C4307C-E694-BB1E-CF2D-F60258DB165A}"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9AE798A-B779-5DDD-3EF0-85C3E9D60120}"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450E2EF-6604-303B-28C5-F5306BF5611E}"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69447D-4E8D-1122-5C97-8DACFB36F907}" type="slidenum">
              <a:rPr/>
              <a:t/>
            </a:fld>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57937C-E1F1-5D64-2BF5-4DF9BFB2E4C8}"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media1.svg"/><Relationship Id="rId5" Type="http://schemas.openxmlformats.org/officeDocument/2006/relationships/image" Target="../media/image2.png"/><Relationship Id="rId6" Type="http://schemas.openxmlformats.org/officeDocument/2006/relationships/image" Target="../media/media2.svg"/><Relationship Id="rId7" Type="http://schemas.openxmlformats.org/officeDocument/2006/relationships/image" Target="../media/image3.png"/><Relationship Id="rId8" Type="http://schemas.openxmlformats.org/officeDocument/2006/relationships/image" Target="../media/media3.svg"/><Relationship Id="rId9" Type="http://schemas.openxmlformats.org/officeDocument/2006/relationships/image" Target="../media/image4.png"/><Relationship Id="rId10" Type="http://schemas.openxmlformats.org/officeDocument/2006/relationships/image" Target="../media/media4.svg"/><Relationship Id="rId11" Type="http://schemas.openxmlformats.org/officeDocument/2006/relationships/image" Target="../media/image5.png"/><Relationship Id="rId12" Type="http://schemas.openxmlformats.org/officeDocument/2006/relationships/image" Target="../media/media5.svg"/><Relationship Id="rId13" Type="http://schemas.openxmlformats.org/officeDocument/2006/relationships/image" Target="../media/image6.png"/><Relationship Id="rId14" Type="http://schemas.openxmlformats.org/officeDocument/2006/relationships/image" Target="../media/media6.svg"/><Relationship Id="rId15" Type="http://schemas.openxmlformats.org/officeDocument/2006/relationships/image" Target="../media/image7.png"/><Relationship Id="rId16" Type="http://schemas.openxmlformats.org/officeDocument/2006/relationships/image" Target="../media/media7.svg"/><Relationship Id="rId17" Type="http://schemas.openxmlformats.org/officeDocument/2006/relationships/image" Target="../media/image8.png"/><Relationship Id="rId18" Type="http://schemas.openxmlformats.org/officeDocument/2006/relationships/image" Target="../media/media8.svg"/><Relationship Id="rId19" Type="http://schemas.openxmlformats.org/officeDocument/2006/relationships/image" Target="../media/image9.png"/><Relationship Id="rId20" Type="http://schemas.openxmlformats.org/officeDocument/2006/relationships/image" Target="../media/media9.svg"/><Relationship Id="rId21" Type="http://schemas.openxmlformats.org/officeDocument/2006/relationships/image" Target="../media/image10.png"/><Relationship Id="rId22" Type="http://schemas.openxmlformats.org/officeDocument/2006/relationships/image" Target="../media/media10.svg"/><Relationship Id="rId23" Type="http://schemas.openxmlformats.org/officeDocument/2006/relationships/image" Target="../media/image11.png"/><Relationship Id="rId24" Type="http://schemas.openxmlformats.org/officeDocument/2006/relationships/image" Target="../media/media11.svg"/><Relationship Id="rId25" Type="http://schemas.openxmlformats.org/officeDocument/2006/relationships/image" Target="../media/image12.png"/><Relationship Id="rId26" Type="http://schemas.openxmlformats.org/officeDocument/2006/relationships/image" Target="../media/media12.svg"/><Relationship Id="rId27" Type="http://schemas.openxmlformats.org/officeDocument/2006/relationships/image" Target="../media/image13.png"/><Relationship Id="rId28" Type="http://schemas.openxmlformats.org/officeDocument/2006/relationships/image" Target="../media/media13.svg"/><Relationship Id="rId29" Type="http://schemas.openxmlformats.org/officeDocument/2006/relationships/image" Target="../media/image14.png"/><Relationship Id="rId30" Type="http://schemas.openxmlformats.org/officeDocument/2006/relationships/image" Target="../media/media14.sv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5.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6.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7.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9.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2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0.png"/><Relationship Id="rId9" Type="http://schemas.openxmlformats.org/officeDocument/2006/relationships/image" Target="../media/image12.png"/><Relationship Id="rId10" Type="http://schemas.openxmlformats.org/officeDocument/2006/relationships/image" Target="../media/image1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2329398" y="8614893"/>
            <a:ext cx="4899948" cy="3344214"/>
          </a:xfrm>
          <a:custGeom>
            <a:avLst/>
            <a:gdLst/>
            <a:ahLst/>
            <a:cxnLst/>
            <a:rect l="l" t="t" r="r" b="b"/>
            <a:pathLst>
              <a:path w="4899948" h="3344214" fill="norm" stroke="1" extrusionOk="0">
                <a:moveTo>
                  <a:pt x="0" y="0"/>
                </a:moveTo>
                <a:lnTo>
                  <a:pt x="4899947" y="0"/>
                </a:lnTo>
                <a:lnTo>
                  <a:pt x="4899947" y="3344214"/>
                </a:lnTo>
                <a:lnTo>
                  <a:pt x="0" y="3344214"/>
                </a:lnTo>
                <a:lnTo>
                  <a:pt x="0" y="0"/>
                </a:lnTo>
                <a:close/>
              </a:path>
            </a:pathLst>
          </a:custGeom>
          <a:blipFill>
            <a:blip r:embed="rId3"/>
            <a:srcRect l="0" t="0" r="0" b="0"/>
            <a:stretch/>
          </a:blipFill>
        </p:spPr>
      </p:sp>
      <p:sp>
        <p:nvSpPr>
          <p:cNvPr id="3" name="Freeform 3"/>
          <p:cNvSpPr/>
          <p:nvPr/>
        </p:nvSpPr>
        <p:spPr bwMode="auto">
          <a:xfrm rot="0" flipH="0" flipV="0">
            <a:off x="6030709" y="9258300"/>
            <a:ext cx="3059829" cy="751049"/>
          </a:xfrm>
          <a:custGeom>
            <a:avLst/>
            <a:gdLst/>
            <a:ahLst/>
            <a:cxnLst/>
            <a:rect l="l" t="t" r="r" b="b"/>
            <a:pathLst>
              <a:path w="3059829" h="751049" fill="norm" stroke="1" extrusionOk="0">
                <a:moveTo>
                  <a:pt x="0" y="0"/>
                </a:moveTo>
                <a:lnTo>
                  <a:pt x="3059829" y="0"/>
                </a:lnTo>
                <a:lnTo>
                  <a:pt x="3059829" y="751049"/>
                </a:lnTo>
                <a:lnTo>
                  <a:pt x="0" y="751049"/>
                </a:lnTo>
                <a:lnTo>
                  <a:pt x="0" y="0"/>
                </a:lnTo>
                <a:close/>
              </a:path>
            </a:pathLst>
          </a:custGeom>
          <a:blipFill>
            <a:blip r:embed="rId5"/>
            <a:srcRect l="0" t="0" r="0" b="0"/>
            <a:stretch/>
          </a:blipFill>
        </p:spPr>
      </p:sp>
      <p:sp>
        <p:nvSpPr>
          <p:cNvPr id="4" name="Freeform 4"/>
          <p:cNvSpPr/>
          <p:nvPr/>
        </p:nvSpPr>
        <p:spPr bwMode="auto">
          <a:xfrm rot="0" flipH="0" flipV="0">
            <a:off x="14236705" y="6409875"/>
            <a:ext cx="724985" cy="920616"/>
          </a:xfrm>
          <a:custGeom>
            <a:avLst/>
            <a:gdLst/>
            <a:ahLst/>
            <a:cxnLst/>
            <a:rect l="l" t="t" r="r" b="b"/>
            <a:pathLst>
              <a:path w="724985" h="920616" fill="norm" stroke="1" extrusionOk="0">
                <a:moveTo>
                  <a:pt x="0" y="0"/>
                </a:moveTo>
                <a:lnTo>
                  <a:pt x="724986" y="0"/>
                </a:lnTo>
                <a:lnTo>
                  <a:pt x="724986" y="920616"/>
                </a:lnTo>
                <a:lnTo>
                  <a:pt x="0" y="920616"/>
                </a:lnTo>
                <a:lnTo>
                  <a:pt x="0" y="0"/>
                </a:lnTo>
                <a:close/>
              </a:path>
            </a:pathLst>
          </a:custGeom>
          <a:blipFill>
            <a:blip r:embed="rId7"/>
            <a:srcRect l="0" t="0" r="0" b="0"/>
            <a:stretch/>
          </a:blipFill>
        </p:spPr>
      </p:sp>
      <p:sp>
        <p:nvSpPr>
          <p:cNvPr id="5" name="Freeform 5"/>
          <p:cNvSpPr/>
          <p:nvPr/>
        </p:nvSpPr>
        <p:spPr bwMode="auto">
          <a:xfrm rot="0" flipH="0" flipV="0">
            <a:off x="14215205"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9"/>
            <a:srcRect l="0" t="0" r="0" b="0"/>
            <a:stretch/>
          </a:blipFill>
          <a:ln cap="sq">
            <a:noFill/>
            <a:prstDash val="solid"/>
            <a:miter/>
          </a:ln>
        </p:spPr>
      </p:sp>
      <p:sp>
        <p:nvSpPr>
          <p:cNvPr id="6" name="Freeform 6"/>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11"/>
            <a:srcRect l="0" t="0" r="0" b="0"/>
            <a:stretch/>
          </a:blipFill>
          <a:ln cap="sq">
            <a:noFill/>
            <a:prstDash val="solid"/>
            <a:miter/>
          </a:ln>
        </p:spPr>
      </p:sp>
      <p:sp>
        <p:nvSpPr>
          <p:cNvPr id="7" name="Freeform 7"/>
          <p:cNvSpPr/>
          <p:nvPr/>
        </p:nvSpPr>
        <p:spPr bwMode="auto">
          <a:xfrm rot="0" flipH="0" flipV="0">
            <a:off x="12686214" y="-2578193"/>
            <a:ext cx="4292424" cy="3870986"/>
          </a:xfrm>
          <a:custGeom>
            <a:avLst/>
            <a:gdLst/>
            <a:ahLst/>
            <a:cxnLst/>
            <a:rect l="l" t="t" r="r" b="b"/>
            <a:pathLst>
              <a:path w="4292424" h="3870986" fill="norm" stroke="1" extrusionOk="0">
                <a:moveTo>
                  <a:pt x="0" y="0"/>
                </a:moveTo>
                <a:lnTo>
                  <a:pt x="4292424" y="0"/>
                </a:lnTo>
                <a:lnTo>
                  <a:pt x="4292424" y="3870986"/>
                </a:lnTo>
                <a:lnTo>
                  <a:pt x="0" y="3870986"/>
                </a:lnTo>
                <a:lnTo>
                  <a:pt x="0" y="0"/>
                </a:lnTo>
                <a:close/>
              </a:path>
            </a:pathLst>
          </a:custGeom>
          <a:blipFill>
            <a:blip r:embed="rId13"/>
            <a:srcRect l="0" t="0" r="0" b="0"/>
            <a:stretch/>
          </a:blipFill>
          <a:ln cap="sq">
            <a:noFill/>
            <a:prstDash val="solid"/>
            <a:miter/>
          </a:ln>
        </p:spPr>
      </p:sp>
      <p:sp>
        <p:nvSpPr>
          <p:cNvPr id="8" name="Freeform 8"/>
          <p:cNvSpPr/>
          <p:nvPr/>
        </p:nvSpPr>
        <p:spPr bwMode="auto">
          <a:xfrm rot="0" flipH="0" flipV="0">
            <a:off x="10138935"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15"/>
            <a:srcRect l="0" t="0" r="0" b="0"/>
            <a:stretch/>
          </a:blipFill>
          <a:ln cap="sq">
            <a:noFill/>
            <a:prstDash val="solid"/>
            <a:miter/>
          </a:ln>
        </p:spPr>
      </p:sp>
      <p:sp>
        <p:nvSpPr>
          <p:cNvPr id="9" name="Freeform 9"/>
          <p:cNvSpPr/>
          <p:nvPr/>
        </p:nvSpPr>
        <p:spPr bwMode="auto">
          <a:xfrm rot="0" flipH="0" flipV="0">
            <a:off x="7409323" y="-2700100"/>
            <a:ext cx="5493058" cy="4114800"/>
          </a:xfrm>
          <a:custGeom>
            <a:avLst/>
            <a:gdLst/>
            <a:ahLst/>
            <a:cxnLst/>
            <a:rect l="l" t="t" r="r" b="b"/>
            <a:pathLst>
              <a:path w="5493058" h="4114800" fill="norm" stroke="1" extrusionOk="0">
                <a:moveTo>
                  <a:pt x="0" y="0"/>
                </a:moveTo>
                <a:lnTo>
                  <a:pt x="5493058" y="0"/>
                </a:lnTo>
                <a:lnTo>
                  <a:pt x="5493058" y="4114800"/>
                </a:lnTo>
                <a:lnTo>
                  <a:pt x="0" y="4114800"/>
                </a:lnTo>
                <a:lnTo>
                  <a:pt x="0" y="0"/>
                </a:lnTo>
                <a:close/>
              </a:path>
            </a:pathLst>
          </a:custGeom>
          <a:blipFill>
            <a:blip r:embed="rId17"/>
            <a:srcRect l="0" t="0" r="0" b="0"/>
            <a:stretch/>
          </a:blipFill>
          <a:ln cap="sq">
            <a:noFill/>
            <a:prstDash val="solid"/>
            <a:miter/>
          </a:ln>
        </p:spPr>
      </p:sp>
      <p:sp>
        <p:nvSpPr>
          <p:cNvPr id="10" name="Freeform 10"/>
          <p:cNvSpPr/>
          <p:nvPr/>
        </p:nvSpPr>
        <p:spPr bwMode="auto">
          <a:xfrm rot="4747567" flipH="0" flipV="0">
            <a:off x="-2972342" y="3665317"/>
            <a:ext cx="4896097" cy="2735694"/>
          </a:xfrm>
          <a:custGeom>
            <a:avLst/>
            <a:gdLst/>
            <a:ahLst/>
            <a:cxnLst/>
            <a:rect l="l" t="t" r="r" b="b"/>
            <a:pathLst>
              <a:path w="4896097" h="2735694" fill="norm" stroke="1" extrusionOk="0">
                <a:moveTo>
                  <a:pt x="0" y="0"/>
                </a:moveTo>
                <a:lnTo>
                  <a:pt x="4896097" y="0"/>
                </a:lnTo>
                <a:lnTo>
                  <a:pt x="4896097" y="2735694"/>
                </a:lnTo>
                <a:lnTo>
                  <a:pt x="0" y="2735694"/>
                </a:lnTo>
                <a:lnTo>
                  <a:pt x="0" y="0"/>
                </a:lnTo>
                <a:close/>
              </a:path>
            </a:pathLst>
          </a:custGeom>
          <a:blipFill>
            <a:blip r:embed="rId19"/>
            <a:srcRect l="0" t="0" r="0" b="0"/>
            <a:stretch/>
          </a:blipFill>
          <a:ln cap="sq">
            <a:noFill/>
            <a:prstDash val="solid"/>
            <a:miter/>
          </a:ln>
        </p:spPr>
      </p:sp>
      <p:sp>
        <p:nvSpPr>
          <p:cNvPr id="11" name="Freeform 11"/>
          <p:cNvSpPr/>
          <p:nvPr/>
        </p:nvSpPr>
        <p:spPr bwMode="auto">
          <a:xfrm rot="0" flipH="0" flipV="0">
            <a:off x="4831481" y="-1626507"/>
            <a:ext cx="2892762" cy="2919301"/>
          </a:xfrm>
          <a:custGeom>
            <a:avLst/>
            <a:gdLst/>
            <a:ahLst/>
            <a:cxnLst/>
            <a:rect l="l" t="t" r="r" b="b"/>
            <a:pathLst>
              <a:path w="2892762" h="2919301" fill="norm" stroke="1" extrusionOk="0">
                <a:moveTo>
                  <a:pt x="0" y="0"/>
                </a:moveTo>
                <a:lnTo>
                  <a:pt x="2892761" y="0"/>
                </a:lnTo>
                <a:lnTo>
                  <a:pt x="2892761" y="2919300"/>
                </a:lnTo>
                <a:lnTo>
                  <a:pt x="0" y="2919300"/>
                </a:lnTo>
                <a:lnTo>
                  <a:pt x="0" y="0"/>
                </a:lnTo>
                <a:close/>
              </a:path>
            </a:pathLst>
          </a:custGeom>
          <a:blipFill>
            <a:blip r:embed="rId21"/>
            <a:srcRect l="0" t="0" r="0" b="0"/>
            <a:stretch/>
          </a:blipFill>
          <a:ln cap="sq">
            <a:noFill/>
            <a:prstDash val="solid"/>
            <a:miter/>
          </a:ln>
        </p:spPr>
      </p:sp>
      <p:sp>
        <p:nvSpPr>
          <p:cNvPr id="12" name="Freeform 12"/>
          <p:cNvSpPr/>
          <p:nvPr/>
        </p:nvSpPr>
        <p:spPr bwMode="auto">
          <a:xfrm rot="0" flipH="0" flipV="0">
            <a:off x="17259300" y="2262342"/>
            <a:ext cx="3575541" cy="3575541"/>
          </a:xfrm>
          <a:custGeom>
            <a:avLst/>
            <a:gdLst/>
            <a:ahLst/>
            <a:cxnLst/>
            <a:rect l="l" t="t" r="r" b="b"/>
            <a:pathLst>
              <a:path w="3575541" h="3575541" fill="norm" stroke="1" extrusionOk="0">
                <a:moveTo>
                  <a:pt x="0" y="0"/>
                </a:moveTo>
                <a:lnTo>
                  <a:pt x="3575541" y="0"/>
                </a:lnTo>
                <a:lnTo>
                  <a:pt x="3575541" y="3575541"/>
                </a:lnTo>
                <a:lnTo>
                  <a:pt x="0" y="3575541"/>
                </a:lnTo>
                <a:lnTo>
                  <a:pt x="0" y="0"/>
                </a:lnTo>
                <a:close/>
              </a:path>
            </a:pathLst>
          </a:custGeom>
          <a:blipFill>
            <a:blip r:embed="rId23"/>
            <a:srcRect l="0" t="0" r="0" b="0"/>
            <a:stretch/>
          </a:blipFill>
          <a:ln cap="sq">
            <a:noFill/>
            <a:prstDash val="solid"/>
            <a:miter/>
          </a:ln>
        </p:spPr>
      </p:sp>
      <p:sp>
        <p:nvSpPr>
          <p:cNvPr id="13" name="Freeform 13"/>
          <p:cNvSpPr/>
          <p:nvPr/>
        </p:nvSpPr>
        <p:spPr bwMode="auto">
          <a:xfrm rot="0" flipH="0" flipV="0">
            <a:off x="2570549" y="9093737"/>
            <a:ext cx="2587020" cy="2386526"/>
          </a:xfrm>
          <a:custGeom>
            <a:avLst/>
            <a:gdLst/>
            <a:ahLst/>
            <a:cxnLst/>
            <a:rect l="l" t="t" r="r" b="b"/>
            <a:pathLst>
              <a:path w="2587020" h="2386526" fill="norm" stroke="1" extrusionOk="0">
                <a:moveTo>
                  <a:pt x="0" y="0"/>
                </a:moveTo>
                <a:lnTo>
                  <a:pt x="2587020" y="0"/>
                </a:lnTo>
                <a:lnTo>
                  <a:pt x="2587020" y="2386526"/>
                </a:lnTo>
                <a:lnTo>
                  <a:pt x="0" y="2386526"/>
                </a:lnTo>
                <a:lnTo>
                  <a:pt x="0" y="0"/>
                </a:lnTo>
                <a:close/>
              </a:path>
            </a:pathLst>
          </a:custGeom>
          <a:blipFill>
            <a:blip r:embed="rId25"/>
            <a:srcRect l="0" t="0" r="0" b="0"/>
            <a:stretch/>
          </a:blipFill>
          <a:ln cap="sq">
            <a:noFill/>
            <a:prstDash val="solid"/>
            <a:miter/>
          </a:ln>
        </p:spPr>
      </p:sp>
      <p:sp>
        <p:nvSpPr>
          <p:cNvPr id="14" name="Freeform 14"/>
          <p:cNvSpPr/>
          <p:nvPr/>
        </p:nvSpPr>
        <p:spPr bwMode="auto">
          <a:xfrm rot="-5282649" flipH="0" flipV="0">
            <a:off x="16440369" y="6970869"/>
            <a:ext cx="3382987" cy="1154444"/>
          </a:xfrm>
          <a:custGeom>
            <a:avLst/>
            <a:gdLst/>
            <a:ahLst/>
            <a:cxnLst/>
            <a:rect l="l" t="t" r="r" b="b"/>
            <a:pathLst>
              <a:path w="3382987" h="1154444" fill="norm" stroke="1" extrusionOk="0">
                <a:moveTo>
                  <a:pt x="0" y="0"/>
                </a:moveTo>
                <a:lnTo>
                  <a:pt x="3382987" y="0"/>
                </a:lnTo>
                <a:lnTo>
                  <a:pt x="3382987" y="1154445"/>
                </a:lnTo>
                <a:lnTo>
                  <a:pt x="0" y="1154445"/>
                </a:lnTo>
                <a:lnTo>
                  <a:pt x="0" y="0"/>
                </a:lnTo>
                <a:close/>
              </a:path>
            </a:pathLst>
          </a:custGeom>
          <a:blipFill>
            <a:blip r:embed="rId27"/>
            <a:srcRect l="0" t="0" r="0" b="0"/>
            <a:stretch/>
          </a:blipFill>
          <a:ln cap="sq">
            <a:noFill/>
            <a:prstDash val="solid"/>
            <a:miter/>
          </a:ln>
        </p:spPr>
      </p:sp>
      <p:sp>
        <p:nvSpPr>
          <p:cNvPr id="15" name="Freeform 15"/>
          <p:cNvSpPr/>
          <p:nvPr/>
        </p:nvSpPr>
        <p:spPr bwMode="auto">
          <a:xfrm rot="0" flipH="0" flipV="0">
            <a:off x="16978638" y="-642644"/>
            <a:ext cx="3104522" cy="3342688"/>
          </a:xfrm>
          <a:custGeom>
            <a:avLst/>
            <a:gdLst/>
            <a:ahLst/>
            <a:cxnLst/>
            <a:rect l="l" t="t" r="r" b="b"/>
            <a:pathLst>
              <a:path w="3104522" h="3342688" fill="norm" stroke="1" extrusionOk="0">
                <a:moveTo>
                  <a:pt x="0" y="0"/>
                </a:moveTo>
                <a:lnTo>
                  <a:pt x="3104522" y="0"/>
                </a:lnTo>
                <a:lnTo>
                  <a:pt x="3104522" y="3342688"/>
                </a:lnTo>
                <a:lnTo>
                  <a:pt x="0" y="3342688"/>
                </a:lnTo>
                <a:lnTo>
                  <a:pt x="0" y="0"/>
                </a:lnTo>
                <a:close/>
              </a:path>
            </a:pathLst>
          </a:custGeom>
          <a:blipFill>
            <a:blip r:embed="rId29"/>
            <a:srcRect l="0" t="0" r="0" b="0"/>
            <a:stretch/>
          </a:blipFill>
          <a:ln cap="sq">
            <a:noFill/>
            <a:prstDash val="solid"/>
            <a:miter/>
          </a:ln>
        </p:spPr>
      </p:sp>
      <p:sp>
        <p:nvSpPr>
          <p:cNvPr id="16" name="TextBox 16"/>
          <p:cNvSpPr txBox="1"/>
          <p:nvPr/>
        </p:nvSpPr>
        <p:spPr bwMode="auto">
          <a:xfrm rot="0">
            <a:off x="3093082" y="1919226"/>
            <a:ext cx="11143624" cy="3113937"/>
          </a:xfrm>
          <a:prstGeom prst="rect">
            <a:avLst/>
          </a:prstGeom>
        </p:spPr>
        <p:txBody>
          <a:bodyPr lIns="0" tIns="0" rIns="0" bIns="0" rtlCol="0" anchor="t">
            <a:spAutoFit/>
          </a:bodyPr>
          <a:lstStyle/>
          <a:p>
            <a:pPr algn="ctr">
              <a:lnSpc>
                <a:spcPts val="8026"/>
              </a:lnSpc>
              <a:defRPr/>
            </a:pPr>
            <a:r>
              <a:rPr lang="en-US" sz="8550" b="1">
                <a:solidFill>
                  <a:srgbClr val="000000"/>
                </a:solidFill>
                <a:latin typeface="DM Sans Bold"/>
                <a:ea typeface="DM Sans Bold"/>
                <a:cs typeface="DM Sans Bold"/>
              </a:rPr>
              <a:t>Detection of False Data Injection in Smart Grid</a:t>
            </a:r>
            <a:endParaRPr/>
          </a:p>
        </p:txBody>
      </p:sp>
      <p:sp>
        <p:nvSpPr>
          <p:cNvPr id="17" name="TextBox 17"/>
          <p:cNvSpPr txBox="1"/>
          <p:nvPr/>
        </p:nvSpPr>
        <p:spPr bwMode="auto">
          <a:xfrm rot="0">
            <a:off x="4335030" y="5591733"/>
            <a:ext cx="8459795" cy="578025"/>
          </a:xfrm>
          <a:prstGeom prst="rect">
            <a:avLst/>
          </a:prstGeom>
        </p:spPr>
        <p:txBody>
          <a:bodyPr lIns="0" tIns="0" rIns="0" bIns="0" rtlCol="0" anchor="t">
            <a:spAutoFit/>
          </a:bodyPr>
          <a:lstStyle/>
          <a:p>
            <a:pPr algn="ctr">
              <a:lnSpc>
                <a:spcPts val="4381"/>
              </a:lnSpc>
              <a:defRPr/>
            </a:pPr>
            <a:r>
              <a:rPr lang="en-US" sz="4400" b="1" spc="-87">
                <a:solidFill>
                  <a:srgbClr val="000000"/>
                </a:solidFill>
                <a:latin typeface="DM Sans Bold"/>
                <a:ea typeface="DM Sans Bold"/>
                <a:cs typeface="DM Sans Bold"/>
              </a:rPr>
              <a:t>GROUP 11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2329398" y="8614893"/>
            <a:ext cx="4899948" cy="3344214"/>
          </a:xfrm>
          <a:custGeom>
            <a:avLst/>
            <a:gdLst/>
            <a:ahLst/>
            <a:cxnLst/>
            <a:rect l="l" t="t" r="r" b="b"/>
            <a:pathLst>
              <a:path w="4899948" h="3344214" fill="norm" stroke="1" extrusionOk="0">
                <a:moveTo>
                  <a:pt x="0" y="0"/>
                </a:moveTo>
                <a:lnTo>
                  <a:pt x="4899947" y="0"/>
                </a:lnTo>
                <a:lnTo>
                  <a:pt x="4899947" y="3344214"/>
                </a:lnTo>
                <a:lnTo>
                  <a:pt x="0" y="3344214"/>
                </a:lnTo>
                <a:lnTo>
                  <a:pt x="0" y="0"/>
                </a:lnTo>
                <a:close/>
              </a:path>
            </a:pathLst>
          </a:custGeom>
          <a:blipFill>
            <a:blip r:embed="rId3"/>
            <a:srcRect l="0" t="0" r="0" b="0"/>
            <a:stretch/>
          </a:blipFill>
        </p:spPr>
      </p:sp>
      <p:sp>
        <p:nvSpPr>
          <p:cNvPr id="3" name="Freeform 3"/>
          <p:cNvSpPr/>
          <p:nvPr/>
        </p:nvSpPr>
        <p:spPr bwMode="auto">
          <a:xfrm rot="0" flipH="0" flipV="0">
            <a:off x="6030709" y="9258300"/>
            <a:ext cx="3059829" cy="751049"/>
          </a:xfrm>
          <a:custGeom>
            <a:avLst/>
            <a:gdLst/>
            <a:ahLst/>
            <a:cxnLst/>
            <a:rect l="l" t="t" r="r" b="b"/>
            <a:pathLst>
              <a:path w="3059829" h="751049" fill="norm" stroke="1" extrusionOk="0">
                <a:moveTo>
                  <a:pt x="0" y="0"/>
                </a:moveTo>
                <a:lnTo>
                  <a:pt x="3059829" y="0"/>
                </a:lnTo>
                <a:lnTo>
                  <a:pt x="3059829" y="751049"/>
                </a:lnTo>
                <a:lnTo>
                  <a:pt x="0" y="751049"/>
                </a:lnTo>
                <a:lnTo>
                  <a:pt x="0" y="0"/>
                </a:lnTo>
                <a:close/>
              </a:path>
            </a:pathLst>
          </a:custGeom>
          <a:blipFill>
            <a:blip r:embed="rId4"/>
            <a:srcRect l="0" t="0" r="0" b="0"/>
            <a:stretch/>
          </a:blipFill>
        </p:spPr>
      </p:sp>
      <p:sp>
        <p:nvSpPr>
          <p:cNvPr id="4" name="Freeform 4"/>
          <p:cNvSpPr/>
          <p:nvPr/>
        </p:nvSpPr>
        <p:spPr bwMode="auto">
          <a:xfrm rot="0" flipH="0" flipV="0">
            <a:off x="14236705" y="6409875"/>
            <a:ext cx="724985" cy="920616"/>
          </a:xfrm>
          <a:custGeom>
            <a:avLst/>
            <a:gdLst/>
            <a:ahLst/>
            <a:cxnLst/>
            <a:rect l="l" t="t" r="r" b="b"/>
            <a:pathLst>
              <a:path w="724985" h="920616" fill="norm" stroke="1" extrusionOk="0">
                <a:moveTo>
                  <a:pt x="0" y="0"/>
                </a:moveTo>
                <a:lnTo>
                  <a:pt x="724986" y="0"/>
                </a:lnTo>
                <a:lnTo>
                  <a:pt x="724986" y="920616"/>
                </a:lnTo>
                <a:lnTo>
                  <a:pt x="0" y="920616"/>
                </a:lnTo>
                <a:lnTo>
                  <a:pt x="0" y="0"/>
                </a:lnTo>
                <a:close/>
              </a:path>
            </a:pathLst>
          </a:custGeom>
          <a:blipFill>
            <a:blip r:embed="rId5"/>
            <a:srcRect l="0" t="0" r="0" b="0"/>
            <a:stretch/>
          </a:blipFill>
        </p:spPr>
      </p:sp>
      <p:sp>
        <p:nvSpPr>
          <p:cNvPr id="5" name="Freeform 5"/>
          <p:cNvSpPr/>
          <p:nvPr/>
        </p:nvSpPr>
        <p:spPr bwMode="auto">
          <a:xfrm rot="0" flipH="0" flipV="0">
            <a:off x="14215205"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6"/>
            <a:srcRect l="0" t="0" r="0" b="0"/>
            <a:stretch/>
          </a:blipFill>
          <a:ln cap="sq">
            <a:noFill/>
            <a:prstDash val="solid"/>
            <a:miter/>
          </a:ln>
        </p:spPr>
      </p:sp>
      <p:sp>
        <p:nvSpPr>
          <p:cNvPr id="6" name="Freeform 6"/>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7"/>
            <a:srcRect l="0" t="0" r="0" b="0"/>
            <a:stretch/>
          </a:blipFill>
          <a:ln cap="sq">
            <a:noFill/>
            <a:prstDash val="solid"/>
            <a:miter/>
          </a:ln>
        </p:spPr>
      </p:sp>
      <p:sp>
        <p:nvSpPr>
          <p:cNvPr id="7" name="Freeform 7"/>
          <p:cNvSpPr/>
          <p:nvPr/>
        </p:nvSpPr>
        <p:spPr bwMode="auto">
          <a:xfrm rot="0" flipH="0" flipV="0">
            <a:off x="12686214" y="-2578193"/>
            <a:ext cx="4292424" cy="3870986"/>
          </a:xfrm>
          <a:custGeom>
            <a:avLst/>
            <a:gdLst/>
            <a:ahLst/>
            <a:cxnLst/>
            <a:rect l="l" t="t" r="r" b="b"/>
            <a:pathLst>
              <a:path w="4292424" h="3870986" fill="norm" stroke="1" extrusionOk="0">
                <a:moveTo>
                  <a:pt x="0" y="0"/>
                </a:moveTo>
                <a:lnTo>
                  <a:pt x="4292424" y="0"/>
                </a:lnTo>
                <a:lnTo>
                  <a:pt x="4292424" y="3870986"/>
                </a:lnTo>
                <a:lnTo>
                  <a:pt x="0" y="3870986"/>
                </a:lnTo>
                <a:lnTo>
                  <a:pt x="0" y="0"/>
                </a:lnTo>
                <a:close/>
              </a:path>
            </a:pathLst>
          </a:custGeom>
          <a:blipFill>
            <a:blip r:embed="rId8"/>
            <a:srcRect l="0" t="0" r="0" b="0"/>
            <a:stretch/>
          </a:blipFill>
          <a:ln cap="sq">
            <a:noFill/>
            <a:prstDash val="solid"/>
            <a:miter/>
          </a:ln>
        </p:spPr>
      </p:sp>
      <p:sp>
        <p:nvSpPr>
          <p:cNvPr id="8" name="Freeform 8"/>
          <p:cNvSpPr/>
          <p:nvPr/>
        </p:nvSpPr>
        <p:spPr bwMode="auto">
          <a:xfrm rot="0" flipH="0" flipV="0">
            <a:off x="10138935"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9"/>
            <a:srcRect l="0" t="0" r="0" b="0"/>
            <a:stretch/>
          </a:blipFill>
          <a:ln cap="sq">
            <a:noFill/>
            <a:prstDash val="solid"/>
            <a:miter/>
          </a:ln>
        </p:spPr>
      </p:sp>
      <p:sp>
        <p:nvSpPr>
          <p:cNvPr id="9" name="Freeform 9"/>
          <p:cNvSpPr/>
          <p:nvPr/>
        </p:nvSpPr>
        <p:spPr bwMode="auto">
          <a:xfrm rot="0" flipH="0" flipV="0">
            <a:off x="7409323" y="-2700100"/>
            <a:ext cx="5493058" cy="4114800"/>
          </a:xfrm>
          <a:custGeom>
            <a:avLst/>
            <a:gdLst/>
            <a:ahLst/>
            <a:cxnLst/>
            <a:rect l="l" t="t" r="r" b="b"/>
            <a:pathLst>
              <a:path w="5493058" h="4114800" fill="norm" stroke="1" extrusionOk="0">
                <a:moveTo>
                  <a:pt x="0" y="0"/>
                </a:moveTo>
                <a:lnTo>
                  <a:pt x="5493058" y="0"/>
                </a:lnTo>
                <a:lnTo>
                  <a:pt x="5493058" y="4114800"/>
                </a:lnTo>
                <a:lnTo>
                  <a:pt x="0" y="4114800"/>
                </a:lnTo>
                <a:lnTo>
                  <a:pt x="0" y="0"/>
                </a:lnTo>
                <a:close/>
              </a:path>
            </a:pathLst>
          </a:custGeom>
          <a:blipFill>
            <a:blip r:embed="rId10"/>
            <a:srcRect l="0" t="0" r="0" b="0"/>
            <a:stretch/>
          </a:blipFill>
          <a:ln cap="sq">
            <a:noFill/>
            <a:prstDash val="solid"/>
            <a:miter/>
          </a:ln>
        </p:spPr>
      </p:sp>
      <p:sp>
        <p:nvSpPr>
          <p:cNvPr id="10" name="Freeform 10"/>
          <p:cNvSpPr/>
          <p:nvPr/>
        </p:nvSpPr>
        <p:spPr bwMode="auto">
          <a:xfrm rot="4747567" flipH="0" flipV="0">
            <a:off x="-2972342" y="3665317"/>
            <a:ext cx="4896097" cy="2735694"/>
          </a:xfrm>
          <a:custGeom>
            <a:avLst/>
            <a:gdLst/>
            <a:ahLst/>
            <a:cxnLst/>
            <a:rect l="l" t="t" r="r" b="b"/>
            <a:pathLst>
              <a:path w="4896097" h="2735694" fill="norm" stroke="1" extrusionOk="0">
                <a:moveTo>
                  <a:pt x="0" y="0"/>
                </a:moveTo>
                <a:lnTo>
                  <a:pt x="4896097" y="0"/>
                </a:lnTo>
                <a:lnTo>
                  <a:pt x="4896097" y="2735694"/>
                </a:lnTo>
                <a:lnTo>
                  <a:pt x="0" y="2735694"/>
                </a:lnTo>
                <a:lnTo>
                  <a:pt x="0" y="0"/>
                </a:lnTo>
                <a:close/>
              </a:path>
            </a:pathLst>
          </a:custGeom>
          <a:blipFill>
            <a:blip r:embed="rId11"/>
            <a:srcRect l="0" t="0" r="0" b="0"/>
            <a:stretch/>
          </a:blipFill>
          <a:ln cap="sq">
            <a:noFill/>
            <a:prstDash val="solid"/>
            <a:miter/>
          </a:ln>
        </p:spPr>
      </p:sp>
      <p:sp>
        <p:nvSpPr>
          <p:cNvPr id="11" name="Freeform 11"/>
          <p:cNvSpPr/>
          <p:nvPr/>
        </p:nvSpPr>
        <p:spPr bwMode="auto">
          <a:xfrm rot="0" flipH="0" flipV="0">
            <a:off x="4831481" y="-1626507"/>
            <a:ext cx="2892762" cy="2919301"/>
          </a:xfrm>
          <a:custGeom>
            <a:avLst/>
            <a:gdLst/>
            <a:ahLst/>
            <a:cxnLst/>
            <a:rect l="l" t="t" r="r" b="b"/>
            <a:pathLst>
              <a:path w="2892762" h="2919301" fill="norm" stroke="1" extrusionOk="0">
                <a:moveTo>
                  <a:pt x="0" y="0"/>
                </a:moveTo>
                <a:lnTo>
                  <a:pt x="2892761" y="0"/>
                </a:lnTo>
                <a:lnTo>
                  <a:pt x="2892761" y="2919300"/>
                </a:lnTo>
                <a:lnTo>
                  <a:pt x="0" y="2919300"/>
                </a:lnTo>
                <a:lnTo>
                  <a:pt x="0" y="0"/>
                </a:lnTo>
                <a:close/>
              </a:path>
            </a:pathLst>
          </a:custGeom>
          <a:blipFill>
            <a:blip r:embed="rId12"/>
            <a:srcRect l="0" t="0" r="0" b="0"/>
            <a:stretch/>
          </a:blipFill>
          <a:ln cap="sq">
            <a:noFill/>
            <a:prstDash val="solid"/>
            <a:miter/>
          </a:ln>
        </p:spPr>
      </p:sp>
      <p:sp>
        <p:nvSpPr>
          <p:cNvPr id="12" name="Freeform 12"/>
          <p:cNvSpPr/>
          <p:nvPr/>
        </p:nvSpPr>
        <p:spPr bwMode="auto">
          <a:xfrm rot="0" flipH="0" flipV="0">
            <a:off x="17259300" y="2262342"/>
            <a:ext cx="3575541" cy="3575541"/>
          </a:xfrm>
          <a:custGeom>
            <a:avLst/>
            <a:gdLst/>
            <a:ahLst/>
            <a:cxnLst/>
            <a:rect l="l" t="t" r="r" b="b"/>
            <a:pathLst>
              <a:path w="3575541" h="3575541" fill="norm" stroke="1" extrusionOk="0">
                <a:moveTo>
                  <a:pt x="0" y="0"/>
                </a:moveTo>
                <a:lnTo>
                  <a:pt x="3575541" y="0"/>
                </a:lnTo>
                <a:lnTo>
                  <a:pt x="3575541" y="3575541"/>
                </a:lnTo>
                <a:lnTo>
                  <a:pt x="0" y="3575541"/>
                </a:lnTo>
                <a:lnTo>
                  <a:pt x="0" y="0"/>
                </a:lnTo>
                <a:close/>
              </a:path>
            </a:pathLst>
          </a:custGeom>
          <a:blipFill>
            <a:blip r:embed="rId13"/>
            <a:srcRect l="0" t="0" r="0" b="0"/>
            <a:stretch/>
          </a:blipFill>
          <a:ln cap="sq">
            <a:noFill/>
            <a:prstDash val="solid"/>
            <a:miter/>
          </a:ln>
        </p:spPr>
      </p:sp>
      <p:sp>
        <p:nvSpPr>
          <p:cNvPr id="13" name="Freeform 13"/>
          <p:cNvSpPr/>
          <p:nvPr/>
        </p:nvSpPr>
        <p:spPr bwMode="auto">
          <a:xfrm rot="0" flipH="0" flipV="0">
            <a:off x="2570549" y="9093737"/>
            <a:ext cx="2587020" cy="2386526"/>
          </a:xfrm>
          <a:custGeom>
            <a:avLst/>
            <a:gdLst/>
            <a:ahLst/>
            <a:cxnLst/>
            <a:rect l="l" t="t" r="r" b="b"/>
            <a:pathLst>
              <a:path w="2587020" h="2386526" fill="norm" stroke="1" extrusionOk="0">
                <a:moveTo>
                  <a:pt x="0" y="0"/>
                </a:moveTo>
                <a:lnTo>
                  <a:pt x="2587020" y="0"/>
                </a:lnTo>
                <a:lnTo>
                  <a:pt x="2587020" y="2386526"/>
                </a:lnTo>
                <a:lnTo>
                  <a:pt x="0" y="2386526"/>
                </a:lnTo>
                <a:lnTo>
                  <a:pt x="0" y="0"/>
                </a:lnTo>
                <a:close/>
              </a:path>
            </a:pathLst>
          </a:custGeom>
          <a:blipFill>
            <a:blip r:embed="rId14"/>
            <a:srcRect l="0" t="0" r="0" b="0"/>
            <a:stretch/>
          </a:blipFill>
          <a:ln cap="sq">
            <a:noFill/>
            <a:prstDash val="solid"/>
            <a:miter/>
          </a:ln>
        </p:spPr>
      </p:sp>
      <p:sp>
        <p:nvSpPr>
          <p:cNvPr id="14" name="Freeform 14"/>
          <p:cNvSpPr/>
          <p:nvPr/>
        </p:nvSpPr>
        <p:spPr bwMode="auto">
          <a:xfrm rot="-5282649" flipH="0" flipV="0">
            <a:off x="16440369" y="6970869"/>
            <a:ext cx="3382987" cy="1154444"/>
          </a:xfrm>
          <a:custGeom>
            <a:avLst/>
            <a:gdLst/>
            <a:ahLst/>
            <a:cxnLst/>
            <a:rect l="l" t="t" r="r" b="b"/>
            <a:pathLst>
              <a:path w="3382987" h="1154444" fill="norm" stroke="1" extrusionOk="0">
                <a:moveTo>
                  <a:pt x="0" y="0"/>
                </a:moveTo>
                <a:lnTo>
                  <a:pt x="3382987" y="0"/>
                </a:lnTo>
                <a:lnTo>
                  <a:pt x="3382987" y="1154445"/>
                </a:lnTo>
                <a:lnTo>
                  <a:pt x="0" y="1154445"/>
                </a:lnTo>
                <a:lnTo>
                  <a:pt x="0" y="0"/>
                </a:lnTo>
                <a:close/>
              </a:path>
            </a:pathLst>
          </a:custGeom>
          <a:blipFill>
            <a:blip r:embed="rId15"/>
            <a:srcRect l="0" t="0" r="0" b="0"/>
            <a:stretch/>
          </a:blipFill>
          <a:ln cap="sq">
            <a:noFill/>
            <a:prstDash val="solid"/>
            <a:miter/>
          </a:ln>
        </p:spPr>
      </p:sp>
      <p:sp>
        <p:nvSpPr>
          <p:cNvPr id="15" name="Freeform 15"/>
          <p:cNvSpPr/>
          <p:nvPr/>
        </p:nvSpPr>
        <p:spPr bwMode="auto">
          <a:xfrm rot="0" flipH="0" flipV="0">
            <a:off x="16978638" y="-642644"/>
            <a:ext cx="3104522" cy="3342688"/>
          </a:xfrm>
          <a:custGeom>
            <a:avLst/>
            <a:gdLst/>
            <a:ahLst/>
            <a:cxnLst/>
            <a:rect l="l" t="t" r="r" b="b"/>
            <a:pathLst>
              <a:path w="3104522" h="3342688" fill="norm" stroke="1" extrusionOk="0">
                <a:moveTo>
                  <a:pt x="0" y="0"/>
                </a:moveTo>
                <a:lnTo>
                  <a:pt x="3104522" y="0"/>
                </a:lnTo>
                <a:lnTo>
                  <a:pt x="3104522" y="3342688"/>
                </a:lnTo>
                <a:lnTo>
                  <a:pt x="0" y="3342688"/>
                </a:lnTo>
                <a:lnTo>
                  <a:pt x="0" y="0"/>
                </a:lnTo>
                <a:close/>
              </a:path>
            </a:pathLst>
          </a:custGeom>
          <a:blipFill>
            <a:blip r:embed="rId16"/>
            <a:srcRect l="0" t="0" r="0" b="0"/>
            <a:stretch/>
          </a:blipFill>
          <a:ln cap="sq">
            <a:noFill/>
            <a:prstDash val="solid"/>
            <a:miter/>
          </a:ln>
        </p:spPr>
      </p:sp>
      <p:sp>
        <p:nvSpPr>
          <p:cNvPr id="16" name="TextBox 16"/>
          <p:cNvSpPr txBox="1"/>
          <p:nvPr/>
        </p:nvSpPr>
        <p:spPr bwMode="auto">
          <a:xfrm rot="0">
            <a:off x="3566037" y="4932442"/>
            <a:ext cx="11408038" cy="3518270"/>
          </a:xfrm>
          <a:prstGeom prst="rect">
            <a:avLst/>
          </a:prstGeom>
        </p:spPr>
        <p:txBody>
          <a:bodyPr lIns="0" tIns="0" rIns="0" bIns="0" rtlCol="0" anchor="t">
            <a:spAutoFit/>
          </a:bodyPr>
          <a:lstStyle/>
          <a:p>
            <a:pPr algn="ctr">
              <a:lnSpc>
                <a:spcPts val="5524"/>
              </a:lnSpc>
              <a:defRPr/>
            </a:pPr>
            <a:r>
              <a:rPr lang="en-US" sz="5900">
                <a:solidFill>
                  <a:srgbClr val="000000"/>
                </a:solidFill>
                <a:latin typeface="DM Sans"/>
                <a:ea typeface="DM Sans"/>
                <a:cs typeface="DM Sans"/>
              </a:rPr>
              <a:t>Ashwin joseph(23BCY10005)</a:t>
            </a:r>
            <a:endParaRPr/>
          </a:p>
          <a:p>
            <a:pPr algn="ctr">
              <a:lnSpc>
                <a:spcPts val="5524"/>
              </a:lnSpc>
              <a:defRPr/>
            </a:pPr>
            <a:r>
              <a:rPr lang="en-US" sz="5900">
                <a:solidFill>
                  <a:srgbClr val="000000"/>
                </a:solidFill>
                <a:latin typeface="DM Sans"/>
                <a:ea typeface="DM Sans"/>
                <a:cs typeface="DM Sans"/>
              </a:rPr>
              <a:t>Akshat Singh(23BCY10019)</a:t>
            </a:r>
            <a:endParaRPr/>
          </a:p>
          <a:p>
            <a:pPr algn="ctr">
              <a:lnSpc>
                <a:spcPts val="5524"/>
              </a:lnSpc>
              <a:defRPr/>
            </a:pPr>
            <a:r>
              <a:rPr lang="en-US" sz="5900">
                <a:solidFill>
                  <a:srgbClr val="000000"/>
                </a:solidFill>
                <a:latin typeface="DM Sans"/>
                <a:ea typeface="DM Sans"/>
                <a:cs typeface="DM Sans"/>
              </a:rPr>
              <a:t>Priyanshu Joshi(23BCY10066)</a:t>
            </a:r>
            <a:endParaRPr/>
          </a:p>
          <a:p>
            <a:pPr algn="ctr">
              <a:lnSpc>
                <a:spcPts val="5524"/>
              </a:lnSpc>
              <a:defRPr/>
            </a:pPr>
            <a:r>
              <a:rPr lang="en-US" sz="5900">
                <a:solidFill>
                  <a:srgbClr val="000000"/>
                </a:solidFill>
                <a:latin typeface="DM Sans"/>
                <a:ea typeface="DM Sans"/>
                <a:cs typeface="DM Sans"/>
              </a:rPr>
              <a:t>Snehasish shaw(23BCY10142)</a:t>
            </a:r>
            <a:endParaRPr/>
          </a:p>
          <a:p>
            <a:pPr algn="ctr">
              <a:lnSpc>
                <a:spcPts val="5524"/>
              </a:lnSpc>
              <a:defRPr/>
            </a:pPr>
            <a:r>
              <a:rPr lang="en-US" sz="5900">
                <a:solidFill>
                  <a:srgbClr val="000000"/>
                </a:solidFill>
                <a:latin typeface="DM Sans"/>
                <a:ea typeface="DM Sans"/>
                <a:cs typeface="DM Sans"/>
              </a:rPr>
              <a:t>Diyasha Singh(23BCY10154)</a:t>
            </a:r>
            <a:endParaRPr/>
          </a:p>
        </p:txBody>
      </p:sp>
      <p:sp>
        <p:nvSpPr>
          <p:cNvPr id="17" name="TextBox 17"/>
          <p:cNvSpPr txBox="1"/>
          <p:nvPr/>
        </p:nvSpPr>
        <p:spPr bwMode="auto">
          <a:xfrm rot="0">
            <a:off x="5552583" y="2910052"/>
            <a:ext cx="6165889" cy="1060365"/>
          </a:xfrm>
          <a:prstGeom prst="rect">
            <a:avLst/>
          </a:prstGeom>
        </p:spPr>
        <p:txBody>
          <a:bodyPr lIns="0" tIns="0" rIns="0" bIns="0" rtlCol="0" anchor="t">
            <a:spAutoFit/>
          </a:bodyPr>
          <a:lstStyle/>
          <a:p>
            <a:pPr algn="ctr">
              <a:lnSpc>
                <a:spcPts val="8754"/>
              </a:lnSpc>
              <a:spcBef>
                <a:spcPts val="0"/>
              </a:spcBef>
              <a:defRPr/>
            </a:pPr>
            <a:r>
              <a:rPr lang="en-US" sz="6250" b="1">
                <a:solidFill>
                  <a:srgbClr val="000000"/>
                </a:solidFill>
                <a:latin typeface="DM Sans Bold"/>
                <a:ea typeface="DM Sans Bold"/>
                <a:cs typeface="DM Sans Bold"/>
              </a:rPr>
              <a:t>TEAM MEMBERS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5003948" y="1410835"/>
            <a:ext cx="7834530" cy="2333143"/>
          </a:xfrm>
          <a:prstGeom prst="rect">
            <a:avLst/>
          </a:prstGeom>
        </p:spPr>
        <p:txBody>
          <a:bodyPr lIns="0" tIns="0" rIns="0" bIns="0" rtlCol="0" anchor="t">
            <a:spAutoFit/>
          </a:bodyPr>
          <a:lstStyle/>
          <a:p>
            <a:pPr algn="l">
              <a:lnSpc>
                <a:spcPts val="8943"/>
              </a:lnSpc>
              <a:defRPr/>
            </a:pPr>
            <a:r>
              <a:rPr lang="en-US" sz="9200" b="1">
                <a:solidFill>
                  <a:srgbClr val="000000"/>
                </a:solidFill>
                <a:latin typeface="DM Sans Bold"/>
                <a:ea typeface="DM Sans Bold"/>
                <a:cs typeface="DM Sans Bold"/>
              </a:rPr>
              <a:t>Introduction</a:t>
            </a:r>
            <a:endParaRPr/>
          </a:p>
          <a:p>
            <a:pPr algn="l">
              <a:lnSpc>
                <a:spcPts val="8943"/>
              </a:lnSpc>
              <a:defRPr/>
            </a:pPr>
            <a:endParaRPr/>
          </a:p>
        </p:txBody>
      </p:sp>
      <p:sp>
        <p:nvSpPr>
          <p:cNvPr id="3" name="Freeform 3"/>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4" name="Freeform 4"/>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5" name="Freeform 5"/>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6" name="Freeform 6"/>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7" name="Freeform 7"/>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8" name="Freeform 8"/>
          <p:cNvSpPr/>
          <p:nvPr/>
        </p:nvSpPr>
        <p:spPr bwMode="auto">
          <a:xfrm rot="0" flipH="0" flipV="0">
            <a:off x="12695052" y="3233096"/>
            <a:ext cx="5317837" cy="4505103"/>
          </a:xfrm>
          <a:custGeom>
            <a:avLst/>
            <a:gdLst/>
            <a:ahLst/>
            <a:cxnLst/>
            <a:rect l="l" t="t" r="r" b="b"/>
            <a:pathLst>
              <a:path w="5317837" h="4505103" fill="norm" stroke="1" extrusionOk="0">
                <a:moveTo>
                  <a:pt x="0" y="0"/>
                </a:moveTo>
                <a:lnTo>
                  <a:pt x="5317837" y="0"/>
                </a:lnTo>
                <a:lnTo>
                  <a:pt x="5317837" y="4505103"/>
                </a:lnTo>
                <a:lnTo>
                  <a:pt x="0" y="4505103"/>
                </a:lnTo>
                <a:lnTo>
                  <a:pt x="0" y="0"/>
                </a:lnTo>
                <a:close/>
              </a:path>
            </a:pathLst>
          </a:custGeom>
          <a:blipFill>
            <a:blip r:embed="rId8"/>
            <a:srcRect l="21713" t="0" r="19266" b="0"/>
            <a:stretch/>
          </a:blipFill>
        </p:spPr>
      </p:sp>
      <p:sp>
        <p:nvSpPr>
          <p:cNvPr id="9" name="TextBox 9"/>
          <p:cNvSpPr txBox="1"/>
          <p:nvPr/>
        </p:nvSpPr>
        <p:spPr bwMode="auto">
          <a:xfrm rot="0">
            <a:off x="575290" y="2763218"/>
            <a:ext cx="10606845" cy="6238907"/>
          </a:xfrm>
          <a:prstGeom prst="rect">
            <a:avLst/>
          </a:prstGeom>
        </p:spPr>
        <p:txBody>
          <a:bodyPr lIns="0" tIns="0" rIns="0" bIns="0" rtlCol="0" anchor="t">
            <a:spAutoFit/>
          </a:bodyPr>
          <a:lstStyle/>
          <a:p>
            <a:pPr algn="l">
              <a:lnSpc>
                <a:spcPts val="3372"/>
              </a:lnSpc>
              <a:defRPr/>
            </a:pPr>
            <a:r>
              <a:rPr lang="en-US" sz="2500" spc="149">
                <a:solidFill>
                  <a:srgbClr val="000000"/>
                </a:solidFill>
                <a:latin typeface="DM Sans"/>
                <a:ea typeface="DM Sans"/>
                <a:cs typeface="DM Sans"/>
              </a:rPr>
              <a:t>In False Data Injection attacks, adversaries manipulate sensor readings or control signals to deceive system operators, potentially leading to blackouts, financial losses, or equipment damage. This project focuses on developing an intelligent detection system using machine learning (ML) and deep learning (DL) techniques to identify and counteract FDIAs in real time, ensuring the stability and security of smart grids.</a:t>
            </a:r>
            <a:endParaRPr/>
          </a:p>
          <a:p>
            <a:pPr algn="l">
              <a:lnSpc>
                <a:spcPts val="4857"/>
              </a:lnSpc>
              <a:defRPr/>
            </a:pPr>
            <a:endParaRPr/>
          </a:p>
          <a:p>
            <a:pPr algn="l">
              <a:lnSpc>
                <a:spcPts val="4857"/>
              </a:lnSpc>
              <a:defRPr/>
            </a:pPr>
            <a:r>
              <a:rPr lang="en-US" sz="3600" b="1" spc="215">
                <a:solidFill>
                  <a:srgbClr val="000000"/>
                </a:solidFill>
                <a:latin typeface="DM Sans Bold"/>
                <a:ea typeface="DM Sans Bold"/>
                <a:cs typeface="DM Sans Bold"/>
              </a:rPr>
              <a:t>Applications</a:t>
            </a:r>
            <a:endParaRPr/>
          </a:p>
          <a:p>
            <a:pPr algn="l">
              <a:lnSpc>
                <a:spcPts val="3372"/>
              </a:lnSpc>
              <a:defRPr/>
            </a:pPr>
            <a:r>
              <a:rPr lang="en-US" sz="2500" spc="149">
                <a:solidFill>
                  <a:srgbClr val="000000"/>
                </a:solidFill>
                <a:latin typeface="DM Sans"/>
                <a:ea typeface="DM Sans"/>
                <a:cs typeface="DM Sans"/>
              </a:rPr>
              <a:t>The proposed detection system has significant implications for energy providers, enabling them to safeguard grid operations against cyber threats. Government agencies can use the research to formulate regulations for smart grid security</a:t>
            </a:r>
            <a:endParaRPr/>
          </a:p>
          <a:p>
            <a:pPr marL="0" lvl="0" indent="0" algn="l">
              <a:lnSpc>
                <a:spcPts val="3372"/>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4391947" y="1811831"/>
            <a:ext cx="11993600" cy="807489"/>
          </a:xfrm>
          <a:prstGeom prst="rect">
            <a:avLst/>
          </a:prstGeom>
        </p:spPr>
        <p:txBody>
          <a:bodyPr lIns="0" tIns="0" rIns="0" bIns="0" rtlCol="0" anchor="t">
            <a:spAutoFit/>
          </a:bodyPr>
          <a:lstStyle/>
          <a:p>
            <a:pPr algn="l">
              <a:lnSpc>
                <a:spcPts val="6065"/>
              </a:lnSpc>
              <a:defRPr/>
            </a:pPr>
            <a:r>
              <a:rPr lang="en-US" sz="6250" b="1">
                <a:solidFill>
                  <a:srgbClr val="000000"/>
                </a:solidFill>
                <a:latin typeface="DM Sans Bold"/>
                <a:ea typeface="DM Sans Bold"/>
                <a:cs typeface="DM Sans Bold"/>
              </a:rPr>
              <a:t>Smart Grid</a:t>
            </a:r>
            <a:endParaRPr/>
          </a:p>
        </p:txBody>
      </p:sp>
      <p:sp>
        <p:nvSpPr>
          <p:cNvPr id="3" name="Freeform 3"/>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4" name="Freeform 4"/>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5" name="Freeform 5"/>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6" name="Freeform 6"/>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7" name="Freeform 7"/>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8" name="TextBox 8"/>
          <p:cNvSpPr txBox="1"/>
          <p:nvPr/>
        </p:nvSpPr>
        <p:spPr bwMode="auto">
          <a:xfrm rot="0">
            <a:off x="1420759" y="3334433"/>
            <a:ext cx="8857315" cy="5896007"/>
          </a:xfrm>
          <a:prstGeom prst="rect">
            <a:avLst/>
          </a:prstGeom>
        </p:spPr>
        <p:txBody>
          <a:bodyPr lIns="0" tIns="0" rIns="0" bIns="0" rtlCol="0" anchor="t">
            <a:spAutoFit/>
          </a:bodyPr>
          <a:lstStyle/>
          <a:p>
            <a:pPr algn="l">
              <a:lnSpc>
                <a:spcPts val="3372"/>
              </a:lnSpc>
              <a:defRPr/>
            </a:pPr>
            <a:r>
              <a:rPr lang="en-US" sz="2500" spc="149">
                <a:solidFill>
                  <a:srgbClr val="000000"/>
                </a:solidFill>
                <a:latin typeface="DM Sans"/>
                <a:ea typeface="DM Sans"/>
                <a:cs typeface="DM Sans"/>
              </a:rPr>
              <a:t>A smart grid is an enhanced electricity network that uses digital communication technology to improve the efficiency, reliability, and sustainability of electricity distribution. It integrates sensors, IoT devices, real-time data analytics, and automation to manage the flow of electricity more intelligently.</a:t>
            </a:r>
            <a:endParaRPr/>
          </a:p>
          <a:p>
            <a:pPr algn="l">
              <a:lnSpc>
                <a:spcPts val="3372"/>
              </a:lnSpc>
              <a:defRPr/>
            </a:pPr>
            <a:endParaRPr/>
          </a:p>
          <a:p>
            <a:pPr marL="0" lvl="0" indent="0" algn="l">
              <a:lnSpc>
                <a:spcPts val="3507"/>
              </a:lnSpc>
              <a:spcBef>
                <a:spcPts val="0"/>
              </a:spcBef>
              <a:defRPr/>
            </a:pPr>
            <a:r>
              <a:rPr lang="en-US" sz="2600" b="1" spc="155">
                <a:solidFill>
                  <a:srgbClr val="000000"/>
                </a:solidFill>
                <a:latin typeface="DM Sans Bold"/>
                <a:ea typeface="DM Sans Bold"/>
                <a:cs typeface="DM Sans Bold"/>
              </a:rPr>
              <a:t>Key Components</a:t>
            </a:r>
            <a:endParaRPr/>
          </a:p>
          <a:p>
            <a:pPr marL="0" lvl="0" indent="0" algn="l">
              <a:lnSpc>
                <a:spcPts val="3507"/>
              </a:lnSpc>
              <a:spcBef>
                <a:spcPts val="0"/>
              </a:spcBef>
              <a:defRPr/>
            </a:pPr>
            <a:endParaRPr/>
          </a:p>
          <a:p>
            <a:pPr marL="0" lvl="0" indent="0" algn="l">
              <a:lnSpc>
                <a:spcPts val="3372"/>
              </a:lnSpc>
              <a:spcBef>
                <a:spcPts val="0"/>
              </a:spcBef>
              <a:defRPr/>
            </a:pPr>
            <a:r>
              <a:rPr lang="en-US" sz="2500" u="none" spc="149">
                <a:solidFill>
                  <a:srgbClr val="000000"/>
                </a:solidFill>
                <a:latin typeface="DM Sans"/>
                <a:ea typeface="DM Sans"/>
                <a:cs typeface="DM Sans"/>
              </a:rPr>
              <a:t>1 Smart Meters</a:t>
            </a:r>
            <a:endParaRPr/>
          </a:p>
          <a:p>
            <a:pPr marL="0" lvl="0" indent="0" algn="l">
              <a:lnSpc>
                <a:spcPts val="3372"/>
              </a:lnSpc>
              <a:spcBef>
                <a:spcPts val="0"/>
              </a:spcBef>
              <a:defRPr/>
            </a:pPr>
            <a:r>
              <a:rPr lang="en-US" sz="2500" u="none" spc="149">
                <a:solidFill>
                  <a:srgbClr val="000000"/>
                </a:solidFill>
                <a:latin typeface="DM Sans"/>
                <a:ea typeface="DM Sans"/>
                <a:cs typeface="DM Sans"/>
              </a:rPr>
              <a:t>2 Advanced Sensors and IoT Devices</a:t>
            </a:r>
            <a:endParaRPr/>
          </a:p>
          <a:p>
            <a:pPr marL="0" lvl="0" indent="0" algn="l">
              <a:lnSpc>
                <a:spcPts val="3372"/>
              </a:lnSpc>
              <a:spcBef>
                <a:spcPts val="0"/>
              </a:spcBef>
              <a:defRPr/>
            </a:pPr>
            <a:r>
              <a:rPr lang="en-US" sz="2500" u="none" spc="149">
                <a:solidFill>
                  <a:srgbClr val="000000"/>
                </a:solidFill>
                <a:latin typeface="DM Sans"/>
                <a:ea typeface="DM Sans"/>
                <a:cs typeface="DM Sans"/>
              </a:rPr>
              <a:t>3 Automated Control Systems</a:t>
            </a:r>
            <a:endParaRPr/>
          </a:p>
          <a:p>
            <a:pPr marL="0" lvl="0" indent="0" algn="l">
              <a:lnSpc>
                <a:spcPts val="3372"/>
              </a:lnSpc>
              <a:spcBef>
                <a:spcPts val="0"/>
              </a:spcBef>
              <a:defRPr/>
            </a:pPr>
            <a:r>
              <a:rPr lang="en-US" sz="2500" u="none" spc="149">
                <a:solidFill>
                  <a:srgbClr val="000000"/>
                </a:solidFill>
                <a:latin typeface="DM Sans"/>
                <a:ea typeface="DM Sans"/>
                <a:cs typeface="DM Sans"/>
              </a:rPr>
              <a:t>4 Two-Way Communication:</a:t>
            </a:r>
            <a:endParaRPr/>
          </a:p>
          <a:p>
            <a:pPr marL="0" lvl="0" indent="0" algn="l">
              <a:lnSpc>
                <a:spcPts val="3372"/>
              </a:lnSpc>
              <a:spcBef>
                <a:spcPts val="0"/>
              </a:spcBef>
              <a:defRPr/>
            </a:pPr>
            <a:endParaRPr/>
          </a:p>
        </p:txBody>
      </p:sp>
      <p:sp>
        <p:nvSpPr>
          <p:cNvPr id="9" name="Freeform 9"/>
          <p:cNvSpPr/>
          <p:nvPr/>
        </p:nvSpPr>
        <p:spPr bwMode="auto">
          <a:xfrm rot="0" flipH="0" flipV="0">
            <a:off x="11289083" y="3259578"/>
            <a:ext cx="6365564" cy="5002619"/>
          </a:xfrm>
          <a:custGeom>
            <a:avLst/>
            <a:gdLst/>
            <a:ahLst/>
            <a:cxnLst/>
            <a:rect l="l" t="t" r="r" b="b"/>
            <a:pathLst>
              <a:path w="6365564" h="5002619" fill="norm" stroke="1" extrusionOk="0">
                <a:moveTo>
                  <a:pt x="0" y="0"/>
                </a:moveTo>
                <a:lnTo>
                  <a:pt x="6365563" y="0"/>
                </a:lnTo>
                <a:lnTo>
                  <a:pt x="6365563" y="5002618"/>
                </a:lnTo>
                <a:lnTo>
                  <a:pt x="0" y="5002618"/>
                </a:lnTo>
                <a:lnTo>
                  <a:pt x="0" y="0"/>
                </a:lnTo>
                <a:close/>
              </a:path>
            </a:pathLst>
          </a:custGeom>
          <a:blipFill>
            <a:blip r:embed="rId8"/>
            <a:srcRect l="6301" t="0" r="8868"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4391947" y="1653393"/>
            <a:ext cx="11993600" cy="1076742"/>
          </a:xfrm>
          <a:prstGeom prst="rect">
            <a:avLst/>
          </a:prstGeom>
        </p:spPr>
        <p:txBody>
          <a:bodyPr lIns="0" tIns="0" rIns="0" bIns="0" rtlCol="0" anchor="t">
            <a:spAutoFit/>
          </a:bodyPr>
          <a:lstStyle/>
          <a:p>
            <a:pPr algn="l">
              <a:lnSpc>
                <a:spcPts val="4125"/>
              </a:lnSpc>
              <a:defRPr/>
            </a:pPr>
            <a:r>
              <a:rPr lang="en-US" sz="4250" b="1">
                <a:solidFill>
                  <a:srgbClr val="000000"/>
                </a:solidFill>
                <a:latin typeface="DM Sans Bold"/>
                <a:ea typeface="DM Sans Bold"/>
                <a:cs typeface="DM Sans Bold"/>
              </a:rPr>
              <a:t>Advancements in False Data Injection (FDI) Attack Detection &amp; Prevention</a:t>
            </a:r>
            <a:endParaRPr/>
          </a:p>
        </p:txBody>
      </p:sp>
      <p:sp>
        <p:nvSpPr>
          <p:cNvPr id="3" name="Freeform 3"/>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4" name="Freeform 4"/>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5" name="Freeform 5"/>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6" name="Freeform 6"/>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7" name="Freeform 7"/>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8" name="TextBox 8"/>
          <p:cNvSpPr txBox="1"/>
          <p:nvPr/>
        </p:nvSpPr>
        <p:spPr bwMode="auto">
          <a:xfrm rot="0">
            <a:off x="1028700" y="3053067"/>
            <a:ext cx="8857315" cy="7047579"/>
          </a:xfrm>
          <a:prstGeom prst="rect">
            <a:avLst/>
          </a:prstGeom>
        </p:spPr>
        <p:txBody>
          <a:bodyPr lIns="0" tIns="0" rIns="0" bIns="0" rtlCol="0" anchor="t">
            <a:spAutoFit/>
          </a:bodyPr>
          <a:lstStyle/>
          <a:p>
            <a:pPr algn="l">
              <a:lnSpc>
                <a:spcPts val="4857"/>
              </a:lnSpc>
              <a:defRPr/>
            </a:pPr>
            <a:r>
              <a:rPr lang="en-US" sz="3600" spc="215">
                <a:solidFill>
                  <a:srgbClr val="000000"/>
                </a:solidFill>
                <a:latin typeface="DM Sans"/>
                <a:ea typeface="DM Sans"/>
                <a:cs typeface="DM Sans"/>
              </a:rPr>
              <a:t>  Advancement</a:t>
            </a:r>
            <a:endParaRPr/>
          </a:p>
          <a:p>
            <a:pPr algn="l">
              <a:lnSpc>
                <a:spcPts val="4317"/>
              </a:lnSpc>
              <a:defRPr/>
            </a:pPr>
            <a:endParaRPr/>
          </a:p>
          <a:p>
            <a:pPr marL="539392" lvl="1" indent="-269696" algn="l">
              <a:lnSpc>
                <a:spcPts val="3372"/>
              </a:lnSpc>
              <a:buFont typeface="Arial"/>
              <a:buChar char="•"/>
              <a:defRPr/>
            </a:pPr>
            <a:r>
              <a:rPr lang="en-US" sz="2500" spc="149">
                <a:solidFill>
                  <a:srgbClr val="000000"/>
                </a:solidFill>
                <a:latin typeface="DM Sans"/>
                <a:ea typeface="DM Sans"/>
                <a:cs typeface="DM Sans"/>
              </a:rPr>
              <a:t>Log Analysis: Enables early</a:t>
            </a:r>
            <a:r>
              <a:rPr lang="en-US" sz="2500" spc="149">
                <a:solidFill>
                  <a:srgbClr val="000000"/>
                </a:solidFill>
                <a:latin typeface="DM Sans"/>
                <a:ea typeface="DM Sans"/>
                <a:cs typeface="DM Sans"/>
              </a:rPr>
              <a:t> detection of anomalies through real-time monitoring and pattern recognition.</a:t>
            </a:r>
            <a:endParaRPr/>
          </a:p>
          <a:p>
            <a:pPr marL="539392" lvl="1" indent="-269696" algn="l">
              <a:lnSpc>
                <a:spcPts val="3372"/>
              </a:lnSpc>
              <a:buFont typeface="Arial"/>
              <a:buChar char="•"/>
              <a:defRPr/>
            </a:pPr>
            <a:r>
              <a:rPr lang="en-US" sz="2500" spc="149">
                <a:solidFill>
                  <a:srgbClr val="000000"/>
                </a:solidFill>
                <a:latin typeface="DM Sans"/>
                <a:ea typeface="DM Sans"/>
                <a:cs typeface="DM Sans"/>
              </a:rPr>
              <a:t>Normalization: Improves accuracy by standardizing and cleaning data from diverse sources.</a:t>
            </a:r>
            <a:endParaRPr/>
          </a:p>
          <a:p>
            <a:pPr marL="539392" lvl="1" indent="-269696" algn="l">
              <a:lnSpc>
                <a:spcPts val="3372"/>
              </a:lnSpc>
              <a:buFont typeface="Arial"/>
              <a:buChar char="•"/>
              <a:defRPr/>
            </a:pPr>
            <a:r>
              <a:rPr lang="en-US" sz="2500" spc="149">
                <a:solidFill>
                  <a:srgbClr val="000000"/>
                </a:solidFill>
                <a:latin typeface="DM Sans"/>
                <a:ea typeface="DM Sans"/>
                <a:cs typeface="DM Sans"/>
              </a:rPr>
              <a:t>Report Generation: Provides quick insights with automated summaries and visual dashboards for faster response.</a:t>
            </a:r>
            <a:endParaRPr/>
          </a:p>
          <a:p>
            <a:pPr marL="539392" lvl="1" indent="-269696" algn="l">
              <a:lnSpc>
                <a:spcPts val="3372"/>
              </a:lnSpc>
              <a:buFont typeface="Arial"/>
              <a:buChar char="•"/>
              <a:defRPr/>
            </a:pPr>
            <a:r>
              <a:rPr lang="en-US" sz="2500" spc="149">
                <a:solidFill>
                  <a:srgbClr val="000000"/>
                </a:solidFill>
                <a:latin typeface="DM Sans"/>
                <a:ea typeface="DM Sans"/>
                <a:cs typeface="DM Sans"/>
              </a:rPr>
              <a:t>Conformity Analysis: Enhances detection by comparing current data with expected behavior and policy rules.</a:t>
            </a:r>
            <a:endParaRPr/>
          </a:p>
          <a:p>
            <a:pPr algn="l">
              <a:lnSpc>
                <a:spcPts val="3372"/>
              </a:lnSpc>
              <a:defRPr/>
            </a:pPr>
            <a:endParaRPr/>
          </a:p>
          <a:p>
            <a:pPr marL="0" lvl="0" indent="0" algn="l">
              <a:lnSpc>
                <a:spcPts val="3372"/>
              </a:lnSpc>
              <a:spcBef>
                <a:spcPts val="0"/>
              </a:spcBef>
              <a:defRPr/>
            </a:pPr>
            <a:endParaRPr/>
          </a:p>
        </p:txBody>
      </p:sp>
      <p:sp>
        <p:nvSpPr>
          <p:cNvPr id="9" name="Freeform 9"/>
          <p:cNvSpPr/>
          <p:nvPr/>
        </p:nvSpPr>
        <p:spPr bwMode="auto">
          <a:xfrm rot="0" flipH="0" flipV="0">
            <a:off x="11289083" y="3259578"/>
            <a:ext cx="6365564" cy="5002619"/>
          </a:xfrm>
          <a:custGeom>
            <a:avLst/>
            <a:gdLst/>
            <a:ahLst/>
            <a:cxnLst/>
            <a:rect l="l" t="t" r="r" b="b"/>
            <a:pathLst>
              <a:path w="6365564" h="5002619" fill="norm" stroke="1" extrusionOk="0">
                <a:moveTo>
                  <a:pt x="0" y="0"/>
                </a:moveTo>
                <a:lnTo>
                  <a:pt x="6365563" y="0"/>
                </a:lnTo>
                <a:lnTo>
                  <a:pt x="6365563" y="5002618"/>
                </a:lnTo>
                <a:lnTo>
                  <a:pt x="0" y="5002618"/>
                </a:lnTo>
                <a:lnTo>
                  <a:pt x="0" y="0"/>
                </a:lnTo>
                <a:close/>
              </a:path>
            </a:pathLst>
          </a:custGeom>
          <a:blipFill>
            <a:blip r:embed="rId8"/>
            <a:srcRect l="6301" t="0" r="8868"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765914"/>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846852"/>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484078"/>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664823"/>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491152"/>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TextBox 7"/>
          <p:cNvSpPr txBox="1"/>
          <p:nvPr/>
        </p:nvSpPr>
        <p:spPr bwMode="auto">
          <a:xfrm rot="0">
            <a:off x="1420759" y="3531636"/>
            <a:ext cx="8857315" cy="4525360"/>
          </a:xfrm>
          <a:prstGeom prst="rect">
            <a:avLst/>
          </a:prstGeom>
        </p:spPr>
        <p:txBody>
          <a:bodyPr lIns="0" tIns="0" rIns="0" bIns="0" rtlCol="0" anchor="t">
            <a:spAutoFit/>
          </a:bodyPr>
          <a:lstStyle/>
          <a:p>
            <a:pPr algn="l">
              <a:lnSpc>
                <a:spcPts val="5937"/>
              </a:lnSpc>
              <a:defRPr/>
            </a:pPr>
            <a:r>
              <a:rPr lang="en-US" sz="4400" b="1" spc="263">
                <a:solidFill>
                  <a:srgbClr val="000000"/>
                </a:solidFill>
                <a:latin typeface="DM Sans Bold"/>
                <a:ea typeface="DM Sans Bold"/>
                <a:cs typeface="DM Sans Bold"/>
              </a:rPr>
              <a:t>Prevention</a:t>
            </a:r>
            <a:endParaRPr/>
          </a:p>
          <a:p>
            <a:pPr algn="l">
              <a:lnSpc>
                <a:spcPts val="3372"/>
              </a:lnSpc>
              <a:defRPr/>
            </a:pPr>
            <a:endParaRPr/>
          </a:p>
          <a:p>
            <a:pPr marL="0" lvl="0" indent="0" algn="l">
              <a:lnSpc>
                <a:spcPts val="3372"/>
              </a:lnSpc>
              <a:spcBef>
                <a:spcPts val="0"/>
              </a:spcBef>
              <a:defRPr/>
            </a:pPr>
            <a:r>
              <a:rPr lang="en-US" sz="2500" spc="149">
                <a:solidFill>
                  <a:srgbClr val="000000"/>
                </a:solidFill>
                <a:latin typeface="DM Sans"/>
                <a:ea typeface="DM Sans"/>
                <a:cs typeface="DM Sans"/>
              </a:rPr>
              <a:t>False Data Injection (FDI) attacks pose serious threats</a:t>
            </a:r>
            <a:r>
              <a:rPr lang="en-US" sz="2500" spc="149">
                <a:solidFill>
                  <a:srgbClr val="000000"/>
                </a:solidFill>
                <a:latin typeface="DM Sans"/>
                <a:ea typeface="DM Sans"/>
                <a:cs typeface="DM Sans"/>
              </a:rPr>
              <a:t> to cyber-physical systems (like smart grids), manipulating sensor data or control signals to mislead decision-making without raising traditional alarms. Recent advancements have strengthened the detection and prevention mechanisms through intelligent data handling and analysis.</a:t>
            </a:r>
            <a:endParaRPr/>
          </a:p>
          <a:p>
            <a:pPr marL="0" lvl="0" indent="0" algn="l">
              <a:lnSpc>
                <a:spcPts val="3372"/>
              </a:lnSpc>
              <a:spcBef>
                <a:spcPts val="0"/>
              </a:spcBef>
              <a:defRPr/>
            </a:pPr>
            <a:endParaRPr/>
          </a:p>
        </p:txBody>
      </p:sp>
      <p:sp>
        <p:nvSpPr>
          <p:cNvPr id="8" name="Freeform 8"/>
          <p:cNvSpPr/>
          <p:nvPr/>
        </p:nvSpPr>
        <p:spPr bwMode="auto">
          <a:xfrm rot="0" flipH="0" flipV="0">
            <a:off x="11289083" y="3485355"/>
            <a:ext cx="6365564" cy="5002619"/>
          </a:xfrm>
          <a:custGeom>
            <a:avLst/>
            <a:gdLst/>
            <a:ahLst/>
            <a:cxnLst/>
            <a:rect l="l" t="t" r="r" b="b"/>
            <a:pathLst>
              <a:path w="6365564" h="5002619" fill="norm" stroke="1" extrusionOk="0">
                <a:moveTo>
                  <a:pt x="0" y="0"/>
                </a:moveTo>
                <a:lnTo>
                  <a:pt x="6365563" y="0"/>
                </a:lnTo>
                <a:lnTo>
                  <a:pt x="6365563" y="5002619"/>
                </a:lnTo>
                <a:lnTo>
                  <a:pt x="0" y="5002619"/>
                </a:lnTo>
                <a:lnTo>
                  <a:pt x="0" y="0"/>
                </a:lnTo>
                <a:close/>
              </a:path>
            </a:pathLst>
          </a:custGeom>
          <a:blipFill>
            <a:blip r:embed="rId8"/>
            <a:srcRect l="6301" t="0" r="8868"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4391947" y="2067110"/>
            <a:ext cx="13715491" cy="626865"/>
          </a:xfrm>
          <a:prstGeom prst="rect">
            <a:avLst/>
          </a:prstGeom>
        </p:spPr>
        <p:txBody>
          <a:bodyPr lIns="0" tIns="0" rIns="0" bIns="0" rtlCol="0" anchor="t">
            <a:spAutoFit/>
          </a:bodyPr>
          <a:lstStyle/>
          <a:p>
            <a:pPr algn="l">
              <a:lnSpc>
                <a:spcPts val="4717"/>
              </a:lnSpc>
              <a:defRPr/>
            </a:pPr>
            <a:r>
              <a:rPr lang="en-US" sz="4850" b="1">
                <a:solidFill>
                  <a:srgbClr val="000000"/>
                </a:solidFill>
                <a:latin typeface="DM Sans Bold"/>
                <a:ea typeface="DM Sans Bold"/>
                <a:cs typeface="DM Sans Bold"/>
              </a:rPr>
              <a:t>Libraries Used and why</a:t>
            </a:r>
            <a:endParaRPr/>
          </a:p>
        </p:txBody>
      </p:sp>
      <p:sp>
        <p:nvSpPr>
          <p:cNvPr id="3" name="Freeform 3"/>
          <p:cNvSpPr/>
          <p:nvPr/>
        </p:nvSpPr>
        <p:spPr bwMode="auto">
          <a:xfrm rot="0" flipH="0" flipV="0">
            <a:off x="15353489" y="8765914"/>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4" name="Freeform 4"/>
          <p:cNvSpPr/>
          <p:nvPr/>
        </p:nvSpPr>
        <p:spPr bwMode="auto">
          <a:xfrm rot="0" flipH="0" flipV="0">
            <a:off x="-674156" y="-846852"/>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5" name="Freeform 5"/>
          <p:cNvSpPr/>
          <p:nvPr/>
        </p:nvSpPr>
        <p:spPr bwMode="auto">
          <a:xfrm rot="0" flipH="0" flipV="0">
            <a:off x="9144000" y="9484078"/>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6" name="Freeform 6"/>
          <p:cNvSpPr/>
          <p:nvPr/>
        </p:nvSpPr>
        <p:spPr bwMode="auto">
          <a:xfrm rot="0" flipH="0" flipV="0">
            <a:off x="5003948" y="-1664823"/>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7" name="Freeform 7"/>
          <p:cNvSpPr/>
          <p:nvPr/>
        </p:nvSpPr>
        <p:spPr bwMode="auto">
          <a:xfrm rot="-5282649" flipH="0" flipV="0">
            <a:off x="16004285" y="491152"/>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8" name="TextBox 8"/>
          <p:cNvSpPr txBox="1"/>
          <p:nvPr/>
        </p:nvSpPr>
        <p:spPr bwMode="auto">
          <a:xfrm rot="0">
            <a:off x="1592448" y="3269576"/>
            <a:ext cx="14703750" cy="5123105"/>
          </a:xfrm>
          <a:prstGeom prst="rect">
            <a:avLst/>
          </a:prstGeom>
        </p:spPr>
        <p:txBody>
          <a:bodyPr lIns="0" tIns="0" rIns="0" bIns="0" rtlCol="0" anchor="t">
            <a:spAutoFit/>
          </a:bodyPr>
          <a:lstStyle/>
          <a:p>
            <a:pPr marL="648798" lvl="1" indent="-324399" algn="l">
              <a:lnSpc>
                <a:spcPts val="4056"/>
              </a:lnSpc>
              <a:buFont typeface="Arial"/>
              <a:buChar char="•"/>
              <a:defRPr/>
            </a:pPr>
            <a:r>
              <a:rPr lang="en-US" sz="3000" spc="180">
                <a:solidFill>
                  <a:srgbClr val="000000"/>
                </a:solidFill>
                <a:latin typeface="DM Sans"/>
                <a:ea typeface="DM Sans"/>
                <a:cs typeface="DM Sans"/>
              </a:rPr>
              <a:t>TensorFlow &amp; Keras: Build and train the CNN model.</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NumPy: Array operations and conformity score calculation.</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Pandas: Load datasets and save reports as CSV.</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Matplotlib &amp; Seaborn: Plot accuracy, loss, ROC, and conformity distribution.</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Logging: Track execution in model_logs.log.</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Scikit-Learn: Preprocessing, metrics, and ROC curve.</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Datetime: Add timestamps to reports.</a:t>
            </a:r>
            <a:endParaRPr/>
          </a:p>
          <a:p>
            <a:pPr marL="648798" lvl="1" indent="-324399" algn="l">
              <a:lnSpc>
                <a:spcPts val="4056"/>
              </a:lnSpc>
              <a:buFont typeface="Arial"/>
              <a:buChar char="•"/>
              <a:defRPr/>
            </a:pPr>
            <a:r>
              <a:rPr lang="en-US" sz="3000" spc="180">
                <a:solidFill>
                  <a:srgbClr val="000000"/>
                </a:solidFill>
                <a:latin typeface="DM Sans"/>
                <a:ea typeface="DM Sans"/>
                <a:cs typeface="DM Sans"/>
              </a:rPr>
              <a:t>OS: Handle file and directory operations.</a:t>
            </a:r>
            <a:endParaRPr/>
          </a:p>
          <a:p>
            <a:pPr marL="0" lvl="0" indent="0" algn="l">
              <a:lnSpc>
                <a:spcPts val="4056"/>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4391947" y="1868849"/>
            <a:ext cx="11993600" cy="664880"/>
          </a:xfrm>
          <a:prstGeom prst="rect">
            <a:avLst/>
          </a:prstGeom>
        </p:spPr>
        <p:txBody>
          <a:bodyPr lIns="0" tIns="0" rIns="0" bIns="0" rtlCol="0" anchor="t">
            <a:spAutoFit/>
          </a:bodyPr>
          <a:lstStyle/>
          <a:p>
            <a:pPr algn="l">
              <a:lnSpc>
                <a:spcPts val="4998"/>
              </a:lnSpc>
              <a:defRPr/>
            </a:pPr>
            <a:r>
              <a:rPr lang="en-US" sz="5150" b="1">
                <a:solidFill>
                  <a:srgbClr val="000000"/>
                </a:solidFill>
                <a:latin typeface="DM Sans Bold"/>
                <a:ea typeface="DM Sans Bold"/>
                <a:cs typeface="DM Sans Bold"/>
              </a:rPr>
              <a:t> Generating Normal Smart Grid Data</a:t>
            </a:r>
            <a:endParaRPr/>
          </a:p>
        </p:txBody>
      </p:sp>
      <p:sp>
        <p:nvSpPr>
          <p:cNvPr id="3" name="Freeform 3"/>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4" name="Freeform 4"/>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5" name="Freeform 5"/>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6" name="Freeform 6"/>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7" name="Freeform 7"/>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8" name="TextBox 8"/>
          <p:cNvSpPr txBox="1"/>
          <p:nvPr/>
        </p:nvSpPr>
        <p:spPr bwMode="auto">
          <a:xfrm rot="0">
            <a:off x="2078901" y="3538800"/>
            <a:ext cx="10200245" cy="5173025"/>
          </a:xfrm>
          <a:prstGeom prst="rect">
            <a:avLst/>
          </a:prstGeom>
        </p:spPr>
        <p:txBody>
          <a:bodyPr lIns="0" tIns="0" rIns="0" bIns="0" rtlCol="0" anchor="t">
            <a:spAutoFit/>
          </a:bodyPr>
          <a:lstStyle/>
          <a:p>
            <a:pPr algn="l">
              <a:lnSpc>
                <a:spcPts val="3756"/>
              </a:lnSpc>
              <a:defRPr/>
            </a:pPr>
            <a:r>
              <a:rPr lang="en-US" sz="2800" spc="166">
                <a:solidFill>
                  <a:srgbClr val="000000"/>
                </a:solidFill>
                <a:latin typeface="DM Sans"/>
                <a:ea typeface="DM Sans"/>
                <a:cs typeface="DM Sans"/>
              </a:rPr>
              <a:t>The dataset consists of 5 key electrical parameters:</a:t>
            </a:r>
            <a:endParaRPr/>
          </a:p>
          <a:p>
            <a:pPr marL="600793" lvl="1" indent="-300397" algn="l">
              <a:lnSpc>
                <a:spcPts val="3756"/>
              </a:lnSpc>
              <a:buFont typeface="Arial"/>
              <a:buChar char="•"/>
              <a:defRPr/>
            </a:pPr>
            <a:r>
              <a:rPr lang="en-US" sz="2800" spc="166">
                <a:solidFill>
                  <a:srgbClr val="000000"/>
                </a:solidFill>
                <a:latin typeface="DM Sans"/>
                <a:ea typeface="DM Sans"/>
                <a:cs typeface="DM Sans"/>
              </a:rPr>
              <a:t>Voltage (V) → Random values between 220V and 240V.</a:t>
            </a:r>
            <a:endParaRPr/>
          </a:p>
          <a:p>
            <a:pPr marL="600793" lvl="1" indent="-300397" algn="l">
              <a:lnSpc>
                <a:spcPts val="3756"/>
              </a:lnSpc>
              <a:buFont typeface="Arial"/>
              <a:buChar char="•"/>
              <a:defRPr/>
            </a:pPr>
            <a:r>
              <a:rPr lang="en-US" sz="2800" spc="166">
                <a:solidFill>
                  <a:srgbClr val="000000"/>
                </a:solidFill>
                <a:latin typeface="DM Sans"/>
                <a:ea typeface="DM Sans"/>
                <a:cs typeface="DM Sans"/>
              </a:rPr>
              <a:t>Current (A) → Random values between 5A and 15A.</a:t>
            </a:r>
            <a:endParaRPr/>
          </a:p>
          <a:p>
            <a:pPr marL="600793" lvl="1" indent="-300397" algn="l">
              <a:lnSpc>
                <a:spcPts val="3756"/>
              </a:lnSpc>
              <a:buFont typeface="Arial"/>
              <a:buChar char="•"/>
              <a:defRPr/>
            </a:pPr>
            <a:r>
              <a:rPr lang="en-US" sz="2800" spc="166">
                <a:solidFill>
                  <a:srgbClr val="000000"/>
                </a:solidFill>
                <a:latin typeface="DM Sans"/>
                <a:ea typeface="DM Sans"/>
                <a:cs typeface="DM Sans"/>
              </a:rPr>
              <a:t>Power Factor → Random values between 0.8 and 1.0.</a:t>
            </a:r>
            <a:endParaRPr/>
          </a:p>
          <a:p>
            <a:pPr marL="600793" lvl="1" indent="-300397" algn="l">
              <a:lnSpc>
                <a:spcPts val="3756"/>
              </a:lnSpc>
              <a:buFont typeface="Arial"/>
              <a:buChar char="•"/>
              <a:defRPr/>
            </a:pPr>
            <a:r>
              <a:rPr lang="en-US" sz="2800" spc="166">
                <a:solidFill>
                  <a:srgbClr val="000000"/>
                </a:solidFill>
                <a:latin typeface="DM Sans"/>
                <a:ea typeface="DM Sans"/>
                <a:cs typeface="DM Sans"/>
              </a:rPr>
              <a:t>Power (W) → Computed as Voltage × Current × Power Factor.</a:t>
            </a:r>
            <a:endParaRPr/>
          </a:p>
          <a:p>
            <a:pPr marL="600793" lvl="1" indent="-300397" algn="l">
              <a:lnSpc>
                <a:spcPts val="3756"/>
              </a:lnSpc>
              <a:buFont typeface="Arial"/>
              <a:buChar char="•"/>
              <a:defRPr/>
            </a:pPr>
            <a:r>
              <a:rPr lang="en-US" sz="2800" spc="166">
                <a:solidFill>
                  <a:srgbClr val="000000"/>
                </a:solidFill>
                <a:latin typeface="DM Sans"/>
                <a:ea typeface="DM Sans"/>
                <a:cs typeface="DM Sans"/>
              </a:rPr>
              <a:t>Frequency (Hz) → Random values between 49.5 Hz and 50.5 Hz.</a:t>
            </a:r>
            <a:endParaRPr/>
          </a:p>
          <a:p>
            <a:pPr marL="0" lvl="0" indent="0" algn="l">
              <a:lnSpc>
                <a:spcPts val="3756"/>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8816001" y="28416"/>
            <a:ext cx="6435130" cy="2535500"/>
          </a:xfrm>
          <a:prstGeom prst="rect">
            <a:avLst/>
          </a:prstGeom>
        </p:spPr>
        <p:txBody>
          <a:bodyPr lIns="0" tIns="0" rIns="0" bIns="0" rtlCol="0" anchor="t">
            <a:spAutoFit/>
          </a:bodyPr>
          <a:lstStyle/>
          <a:p>
            <a:pPr algn="l">
              <a:lnSpc>
                <a:spcPts val="6535"/>
              </a:lnSpc>
              <a:defRPr/>
            </a:pPr>
            <a:r>
              <a:rPr lang="en-US" sz="6750" b="1">
                <a:solidFill>
                  <a:srgbClr val="000000"/>
                </a:solidFill>
                <a:latin typeface="DM Sans Bold"/>
                <a:ea typeface="DM Sans Bold"/>
                <a:cs typeface="DM Sans Bold"/>
              </a:rPr>
              <a:t>Normalization Technique</a:t>
            </a:r>
            <a:endParaRPr/>
          </a:p>
          <a:p>
            <a:pPr algn="l">
              <a:lnSpc>
                <a:spcPts val="6535"/>
              </a:lnSpc>
              <a:defRPr/>
            </a:pPr>
            <a:endParaRPr/>
          </a:p>
        </p:txBody>
      </p:sp>
      <p:sp>
        <p:nvSpPr>
          <p:cNvPr id="3" name="Freeform 3"/>
          <p:cNvSpPr/>
          <p:nvPr/>
        </p:nvSpPr>
        <p:spPr bwMode="auto">
          <a:xfrm rot="0" flipH="0" flipV="0">
            <a:off x="-848571" y="9006747"/>
            <a:ext cx="3870946" cy="950141"/>
          </a:xfrm>
          <a:custGeom>
            <a:avLst/>
            <a:gdLst/>
            <a:ahLst/>
            <a:cxnLst/>
            <a:rect l="l" t="t" r="r" b="b"/>
            <a:pathLst>
              <a:path w="3870946" h="950141" fill="norm" stroke="1" extrusionOk="0">
                <a:moveTo>
                  <a:pt x="0" y="0"/>
                </a:moveTo>
                <a:lnTo>
                  <a:pt x="3870946" y="0"/>
                </a:lnTo>
                <a:lnTo>
                  <a:pt x="3870946" y="950141"/>
                </a:lnTo>
                <a:lnTo>
                  <a:pt x="0" y="950141"/>
                </a:lnTo>
                <a:lnTo>
                  <a:pt x="0" y="0"/>
                </a:lnTo>
                <a:close/>
              </a:path>
            </a:pathLst>
          </a:custGeom>
          <a:blipFill>
            <a:blip r:embed="rId3"/>
            <a:srcRect l="0" t="0" r="0" b="0"/>
            <a:stretch/>
          </a:blipFill>
        </p:spPr>
      </p:sp>
      <p:sp>
        <p:nvSpPr>
          <p:cNvPr id="4" name="Freeform 4"/>
          <p:cNvSpPr/>
          <p:nvPr/>
        </p:nvSpPr>
        <p:spPr bwMode="auto">
          <a:xfrm rot="0" flipH="0" flipV="0">
            <a:off x="4472906" y="-2277729"/>
            <a:ext cx="4980952" cy="3731186"/>
          </a:xfrm>
          <a:custGeom>
            <a:avLst/>
            <a:gdLst/>
            <a:ahLst/>
            <a:cxnLst/>
            <a:rect l="l" t="t" r="r" b="b"/>
            <a:pathLst>
              <a:path w="4980952" h="3731186" fill="norm" stroke="1" extrusionOk="0">
                <a:moveTo>
                  <a:pt x="0" y="0"/>
                </a:moveTo>
                <a:lnTo>
                  <a:pt x="4980951" y="0"/>
                </a:lnTo>
                <a:lnTo>
                  <a:pt x="4980951" y="3731186"/>
                </a:lnTo>
                <a:lnTo>
                  <a:pt x="0" y="3731186"/>
                </a:lnTo>
                <a:lnTo>
                  <a:pt x="0" y="0"/>
                </a:lnTo>
                <a:close/>
              </a:path>
            </a:pathLst>
          </a:custGeom>
          <a:blipFill>
            <a:blip r:embed="rId4"/>
            <a:srcRect l="0" t="0" r="0" b="0"/>
            <a:stretch/>
          </a:blipFill>
          <a:ln cap="sq">
            <a:noFill/>
            <a:prstDash val="solid"/>
            <a:miter/>
          </a:ln>
        </p:spPr>
      </p:sp>
      <p:sp>
        <p:nvSpPr>
          <p:cNvPr id="5" name="Freeform 5"/>
          <p:cNvSpPr/>
          <p:nvPr/>
        </p:nvSpPr>
        <p:spPr bwMode="auto">
          <a:xfrm rot="0" flipH="0" flipV="0">
            <a:off x="3431074" y="9006747"/>
            <a:ext cx="2587020" cy="2386526"/>
          </a:xfrm>
          <a:custGeom>
            <a:avLst/>
            <a:gdLst/>
            <a:ahLst/>
            <a:cxnLst/>
            <a:rect l="l" t="t" r="r" b="b"/>
            <a:pathLst>
              <a:path w="2587020" h="2386526" fill="norm" stroke="1" extrusionOk="0">
                <a:moveTo>
                  <a:pt x="0" y="0"/>
                </a:moveTo>
                <a:lnTo>
                  <a:pt x="2587019" y="0"/>
                </a:lnTo>
                <a:lnTo>
                  <a:pt x="2587019" y="2386525"/>
                </a:lnTo>
                <a:lnTo>
                  <a:pt x="0" y="2386525"/>
                </a:lnTo>
                <a:lnTo>
                  <a:pt x="0" y="0"/>
                </a:lnTo>
                <a:close/>
              </a:path>
            </a:pathLst>
          </a:custGeom>
          <a:blipFill>
            <a:blip r:embed="rId5"/>
            <a:srcRect l="0" t="0" r="0" b="0"/>
            <a:stretch/>
          </a:blipFill>
          <a:ln cap="sq">
            <a:noFill/>
            <a:prstDash val="solid"/>
            <a:miter/>
          </a:ln>
        </p:spPr>
      </p:sp>
      <p:sp>
        <p:nvSpPr>
          <p:cNvPr id="6" name="Freeform 6"/>
          <p:cNvSpPr/>
          <p:nvPr/>
        </p:nvSpPr>
        <p:spPr bwMode="auto">
          <a:xfrm rot="0" flipH="0" flipV="0">
            <a:off x="-848571" y="-657326"/>
            <a:ext cx="2597326" cy="2796583"/>
          </a:xfrm>
          <a:custGeom>
            <a:avLst/>
            <a:gdLst/>
            <a:ahLst/>
            <a:cxnLst/>
            <a:rect l="l" t="t" r="r" b="b"/>
            <a:pathLst>
              <a:path w="2597326" h="2796583" fill="norm" stroke="1" extrusionOk="0">
                <a:moveTo>
                  <a:pt x="0" y="0"/>
                </a:moveTo>
                <a:lnTo>
                  <a:pt x="2597327" y="0"/>
                </a:lnTo>
                <a:lnTo>
                  <a:pt x="2597327" y="2796583"/>
                </a:lnTo>
                <a:lnTo>
                  <a:pt x="0" y="2796583"/>
                </a:lnTo>
                <a:lnTo>
                  <a:pt x="0" y="0"/>
                </a:lnTo>
                <a:close/>
              </a:path>
            </a:pathLst>
          </a:custGeom>
          <a:blipFill>
            <a:blip r:embed="rId6"/>
            <a:srcRect l="0" t="0" r="0" b="0"/>
            <a:stretch/>
          </a:blipFill>
          <a:ln cap="sq">
            <a:noFill/>
            <a:prstDash val="solid"/>
            <a:miter/>
          </a:ln>
        </p:spPr>
      </p:sp>
      <p:sp>
        <p:nvSpPr>
          <p:cNvPr id="7" name="Freeform 7"/>
          <p:cNvSpPr/>
          <p:nvPr/>
        </p:nvSpPr>
        <p:spPr bwMode="auto">
          <a:xfrm rot="0" flipH="0" flipV="0">
            <a:off x="-148528" y="5390535"/>
            <a:ext cx="6573281" cy="4477164"/>
          </a:xfrm>
          <a:custGeom>
            <a:avLst/>
            <a:gdLst/>
            <a:ahLst/>
            <a:cxnLst/>
            <a:rect l="l" t="t" r="r" b="b"/>
            <a:pathLst>
              <a:path w="6573281" h="4477164" fill="norm" stroke="1" extrusionOk="0">
                <a:moveTo>
                  <a:pt x="0" y="0"/>
                </a:moveTo>
                <a:lnTo>
                  <a:pt x="6573281" y="0"/>
                </a:lnTo>
                <a:lnTo>
                  <a:pt x="6573281" y="4477165"/>
                </a:lnTo>
                <a:lnTo>
                  <a:pt x="0" y="4477165"/>
                </a:lnTo>
                <a:lnTo>
                  <a:pt x="0" y="0"/>
                </a:lnTo>
                <a:close/>
              </a:path>
            </a:pathLst>
          </a:custGeom>
          <a:blipFill>
            <a:blip r:embed="rId7"/>
            <a:srcRect l="912" t="0" r="24164" b="0"/>
            <a:stretch/>
          </a:blipFill>
        </p:spPr>
      </p:sp>
      <p:sp>
        <p:nvSpPr>
          <p:cNvPr id="8" name="TextBox 8"/>
          <p:cNvSpPr txBox="1"/>
          <p:nvPr/>
        </p:nvSpPr>
        <p:spPr bwMode="auto">
          <a:xfrm rot="0">
            <a:off x="619715" y="1626354"/>
            <a:ext cx="17668285" cy="4560484"/>
          </a:xfrm>
          <a:prstGeom prst="rect">
            <a:avLst/>
          </a:prstGeom>
        </p:spPr>
        <p:txBody>
          <a:bodyPr lIns="0" tIns="0" rIns="0" bIns="0" rtlCol="0" anchor="t">
            <a:spAutoFit/>
          </a:bodyPr>
          <a:lstStyle/>
          <a:p>
            <a:pPr algn="ctr">
              <a:lnSpc>
                <a:spcPts val="5674"/>
              </a:lnSpc>
              <a:defRPr/>
            </a:pPr>
            <a:r>
              <a:rPr lang="en-US" sz="4050" b="1">
                <a:solidFill>
                  <a:srgbClr val="000000"/>
                </a:solidFill>
                <a:latin typeface="DM Sans Bold"/>
                <a:ea typeface="DM Sans Bold"/>
                <a:cs typeface="DM Sans Bold"/>
              </a:rPr>
              <a:t>What is StandardScaler?</a:t>
            </a:r>
            <a:endParaRPr/>
          </a:p>
          <a:p>
            <a:pPr algn="ctr">
              <a:lnSpc>
                <a:spcPts val="5674"/>
              </a:lnSpc>
              <a:defRPr/>
            </a:pPr>
            <a:r>
              <a:rPr lang="en-US" sz="4050" b="1">
                <a:solidFill>
                  <a:srgbClr val="000000"/>
                </a:solidFill>
                <a:latin typeface="DM Sans Bold"/>
                <a:ea typeface="DM Sans Bold"/>
                <a:cs typeface="DM Sans Bold"/>
              </a:rPr>
              <a:t>StandardScaler is a feature-scaling technique in scikit-learn that standardizes data by removing the mean and scaling it to unit variance. It is commonly used in machine learning to ensure that all features have the same scale, improving model performance.</a:t>
            </a:r>
            <a:endParaRPr/>
          </a:p>
          <a:p>
            <a:pPr algn="ctr">
              <a:lnSpc>
                <a:spcPts val="8194"/>
              </a:lnSpc>
              <a:spcBef>
                <a:spcPts val="0"/>
              </a:spcBef>
              <a:defRPr/>
            </a:pPr>
            <a:endParaRPr/>
          </a:p>
        </p:txBody>
      </p:sp>
      <p:sp>
        <p:nvSpPr>
          <p:cNvPr id="9" name="TextBox 9"/>
          <p:cNvSpPr txBox="1"/>
          <p:nvPr/>
        </p:nvSpPr>
        <p:spPr bwMode="auto">
          <a:xfrm rot="0">
            <a:off x="7329256" y="5857438"/>
            <a:ext cx="9408619" cy="3046793"/>
          </a:xfrm>
          <a:prstGeom prst="rect">
            <a:avLst/>
          </a:prstGeom>
        </p:spPr>
        <p:txBody>
          <a:bodyPr lIns="0" tIns="0" rIns="0" bIns="0" rtlCol="0" anchor="t">
            <a:spAutoFit/>
          </a:bodyPr>
          <a:lstStyle/>
          <a:p>
            <a:pPr marL="749852" lvl="1" indent="-374926" algn="ctr">
              <a:lnSpc>
                <a:spcPts val="4862"/>
              </a:lnSpc>
              <a:buFont typeface="Arial"/>
              <a:buChar char="•"/>
              <a:defRPr/>
            </a:pPr>
            <a:r>
              <a:rPr lang="en-US" sz="3450" b="1">
                <a:solidFill>
                  <a:srgbClr val="000000"/>
                </a:solidFill>
                <a:latin typeface="DM Sans Bold"/>
                <a:ea typeface="DM Sans Bold"/>
                <a:cs typeface="DM Sans Bold"/>
              </a:rPr>
              <a:t>X is the original feature value,</a:t>
            </a:r>
            <a:endParaRPr/>
          </a:p>
          <a:p>
            <a:pPr marL="749852" lvl="1" indent="-374926" algn="ctr">
              <a:lnSpc>
                <a:spcPts val="4862"/>
              </a:lnSpc>
              <a:buFont typeface="Arial"/>
              <a:buChar char="•"/>
              <a:defRPr/>
            </a:pPr>
            <a:r>
              <a:rPr lang="en-US" sz="3450" b="1">
                <a:solidFill>
                  <a:srgbClr val="000000"/>
                </a:solidFill>
                <a:latin typeface="DM Sans Bold"/>
                <a:ea typeface="DM Sans Bold"/>
                <a:cs typeface="DM Sans Bold"/>
              </a:rPr>
              <a:t>μ\muμ is the mean of the feature,</a:t>
            </a:r>
            <a:endParaRPr/>
          </a:p>
          <a:p>
            <a:pPr marL="749852" lvl="1" indent="-374926" algn="ctr">
              <a:lnSpc>
                <a:spcPts val="4862"/>
              </a:lnSpc>
              <a:buFont typeface="Arial"/>
              <a:buChar char="•"/>
              <a:defRPr/>
            </a:pPr>
            <a:r>
              <a:rPr lang="en-US" sz="3450" b="1">
                <a:solidFill>
                  <a:srgbClr val="000000"/>
                </a:solidFill>
                <a:latin typeface="DM Sans Bold"/>
                <a:ea typeface="DM Sans Bold"/>
                <a:cs typeface="DM Sans Bold"/>
              </a:rPr>
              <a:t>σ\sigmaσ is the standard deviation of the feature.</a:t>
            </a:r>
            <a:endParaRPr/>
          </a:p>
          <a:p>
            <a:pPr algn="ctr">
              <a:lnSpc>
                <a:spcPts val="4862"/>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TextBox 2"/>
          <p:cNvSpPr txBox="1"/>
          <p:nvPr/>
        </p:nvSpPr>
        <p:spPr bwMode="auto">
          <a:xfrm rot="0">
            <a:off x="4519714" y="1406446"/>
            <a:ext cx="11993600" cy="1575192"/>
          </a:xfrm>
          <a:prstGeom prst="rect">
            <a:avLst/>
          </a:prstGeom>
        </p:spPr>
        <p:txBody>
          <a:bodyPr lIns="0" tIns="0" rIns="0" bIns="0" rtlCol="0" anchor="t">
            <a:spAutoFit/>
          </a:bodyPr>
          <a:lstStyle/>
          <a:p>
            <a:pPr algn="l">
              <a:lnSpc>
                <a:spcPts val="6065"/>
              </a:lnSpc>
              <a:defRPr/>
            </a:pPr>
            <a:r>
              <a:rPr lang="en-US" sz="6250" b="1">
                <a:solidFill>
                  <a:srgbClr val="000000"/>
                </a:solidFill>
                <a:latin typeface="DM Sans Bold"/>
                <a:ea typeface="DM Sans Bold"/>
                <a:cs typeface="DM Sans Bold"/>
              </a:rPr>
              <a:t> Report Generation</a:t>
            </a:r>
            <a:endParaRPr/>
          </a:p>
          <a:p>
            <a:pPr algn="l">
              <a:lnSpc>
                <a:spcPts val="6065"/>
              </a:lnSpc>
              <a:defRPr/>
            </a:pPr>
            <a:endParaRPr/>
          </a:p>
        </p:txBody>
      </p:sp>
      <p:sp>
        <p:nvSpPr>
          <p:cNvPr id="3" name="TextBox 3"/>
          <p:cNvSpPr txBox="1"/>
          <p:nvPr/>
        </p:nvSpPr>
        <p:spPr bwMode="auto">
          <a:xfrm rot="0">
            <a:off x="1028700" y="2819096"/>
            <a:ext cx="11093905" cy="6412636"/>
          </a:xfrm>
          <a:prstGeom prst="rect">
            <a:avLst/>
          </a:prstGeom>
        </p:spPr>
        <p:txBody>
          <a:bodyPr lIns="0" tIns="0" rIns="0" bIns="0" rtlCol="0" anchor="t">
            <a:spAutoFit/>
          </a:bodyPr>
          <a:lstStyle/>
          <a:p>
            <a:pPr marL="621510" lvl="1" indent="-310755" algn="l">
              <a:lnSpc>
                <a:spcPts val="3886"/>
              </a:lnSpc>
              <a:buFont typeface="Arial"/>
              <a:buChar char="•"/>
              <a:defRPr/>
            </a:pPr>
            <a:r>
              <a:rPr lang="en-US" sz="2900" spc="172">
                <a:solidFill>
                  <a:srgbClr val="000000"/>
                </a:solidFill>
                <a:latin typeface="DM Sans"/>
                <a:ea typeface="DM Sans"/>
                <a:cs typeface="DM Sans"/>
              </a:rPr>
              <a:t>Quantitative Metrics: The report (model_report.csv) provides accuracy, precision, recall, F1-score, and AUC-ROC, ensuring the model meets detection requirements.</a:t>
            </a:r>
            <a:endParaRPr/>
          </a:p>
          <a:p>
            <a:pPr marL="621510" lvl="1" indent="-310755" algn="l">
              <a:lnSpc>
                <a:spcPts val="3886"/>
              </a:lnSpc>
              <a:buFont typeface="Arial"/>
              <a:buChar char="•"/>
              <a:defRPr/>
            </a:pPr>
            <a:r>
              <a:rPr lang="en-US" sz="2900" spc="172">
                <a:solidFill>
                  <a:srgbClr val="000000"/>
                </a:solidFill>
                <a:latin typeface="DM Sans"/>
                <a:ea typeface="DM Sans"/>
                <a:cs typeface="DM Sans"/>
              </a:rPr>
              <a:t>Conformity Scores: The conformity_scores.csv file helps assess prediction confidence, identifying uncertain classifications that may need manual review.</a:t>
            </a:r>
            <a:endParaRPr/>
          </a:p>
          <a:p>
            <a:pPr algn="l">
              <a:lnSpc>
                <a:spcPts val="4426"/>
              </a:lnSpc>
              <a:defRPr/>
            </a:pPr>
            <a:r>
              <a:rPr lang="en-US" sz="3300" b="1" spc="196">
                <a:solidFill>
                  <a:srgbClr val="000000"/>
                </a:solidFill>
                <a:latin typeface="DM Sans Bold"/>
                <a:ea typeface="DM Sans Bold"/>
                <a:cs typeface="DM Sans Bold"/>
              </a:rPr>
              <a:t>    </a:t>
            </a:r>
            <a:r>
              <a:rPr lang="en-US" sz="3300" b="1" spc="196">
                <a:solidFill>
                  <a:srgbClr val="000000"/>
                </a:solidFill>
                <a:latin typeface="DM Sans Bold"/>
                <a:ea typeface="DM Sans Bold"/>
                <a:cs typeface="DM Sans Bold"/>
              </a:rPr>
              <a:t>Why It Matters:</a:t>
            </a:r>
            <a:endParaRPr/>
          </a:p>
          <a:p>
            <a:pPr marL="621510" lvl="1" indent="-310755" algn="l">
              <a:lnSpc>
                <a:spcPts val="3886"/>
              </a:lnSpc>
              <a:buFont typeface="Arial"/>
              <a:buChar char="•"/>
              <a:defRPr/>
            </a:pPr>
            <a:r>
              <a:rPr lang="en-US" sz="2900" spc="172">
                <a:solidFill>
                  <a:srgbClr val="000000"/>
                </a:solidFill>
                <a:latin typeface="DM Sans"/>
                <a:ea typeface="DM Sans"/>
                <a:cs typeface="DM Sans"/>
              </a:rPr>
              <a:t>Provides evidence of due diligence in securing the grid.</a:t>
            </a:r>
            <a:endParaRPr/>
          </a:p>
          <a:p>
            <a:pPr marL="621510" lvl="1" indent="-310755" algn="l">
              <a:lnSpc>
                <a:spcPts val="3886"/>
              </a:lnSpc>
              <a:spcBef>
                <a:spcPts val="0"/>
              </a:spcBef>
              <a:buFont typeface="Arial"/>
              <a:buChar char="•"/>
              <a:defRPr/>
            </a:pPr>
            <a:r>
              <a:rPr lang="en-US" sz="2900" spc="172">
                <a:solidFill>
                  <a:srgbClr val="000000"/>
                </a:solidFill>
                <a:latin typeface="DM Sans"/>
                <a:ea typeface="DM Sans"/>
                <a:cs typeface="DM Sans"/>
              </a:rPr>
              <a:t>Helps meet industry and government cybersecurity standards.</a:t>
            </a:r>
            <a:endParaRPr/>
          </a:p>
          <a:p>
            <a:pPr marL="0" lvl="0" indent="0" algn="l">
              <a:lnSpc>
                <a:spcPts val="3886"/>
              </a:lnSpc>
              <a:spcBef>
                <a:spcPts val="0"/>
              </a:spcBef>
              <a:defRPr/>
            </a:pPr>
            <a:endParaRPr/>
          </a:p>
        </p:txBody>
      </p:sp>
      <p:sp>
        <p:nvSpPr>
          <p:cNvPr id="4" name="Freeform 4"/>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5" name="Freeform 5"/>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6" name="Freeform 6"/>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7" name="Freeform 7"/>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8" name="Freeform 8"/>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9" name="Freeform 9"/>
          <p:cNvSpPr/>
          <p:nvPr/>
        </p:nvSpPr>
        <p:spPr bwMode="auto">
          <a:xfrm rot="0" flipH="0" flipV="0">
            <a:off x="12528814" y="3594207"/>
            <a:ext cx="5244089" cy="4121265"/>
          </a:xfrm>
          <a:custGeom>
            <a:avLst/>
            <a:gdLst/>
            <a:ahLst/>
            <a:cxnLst/>
            <a:rect l="l" t="t" r="r" b="b"/>
            <a:pathLst>
              <a:path w="5244089" h="4121265" fill="norm" stroke="1" extrusionOk="0">
                <a:moveTo>
                  <a:pt x="0" y="0"/>
                </a:moveTo>
                <a:lnTo>
                  <a:pt x="5244088" y="0"/>
                </a:lnTo>
                <a:lnTo>
                  <a:pt x="5244088" y="4121265"/>
                </a:lnTo>
                <a:lnTo>
                  <a:pt x="0" y="4121265"/>
                </a:lnTo>
                <a:lnTo>
                  <a:pt x="0" y="0"/>
                </a:lnTo>
                <a:close/>
              </a:path>
            </a:pathLst>
          </a:custGeom>
          <a:blipFill>
            <a:blip r:embed="rId8"/>
            <a:srcRect l="6301" t="0" r="8868"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Freeform 7"/>
          <p:cNvSpPr/>
          <p:nvPr/>
        </p:nvSpPr>
        <p:spPr bwMode="auto">
          <a:xfrm rot="0" flipH="0" flipV="0">
            <a:off x="251671" y="3048261"/>
            <a:ext cx="9104533" cy="5921099"/>
          </a:xfrm>
          <a:custGeom>
            <a:avLst/>
            <a:gdLst/>
            <a:ahLst/>
            <a:cxnLst/>
            <a:rect l="l" t="t" r="r" b="b"/>
            <a:pathLst>
              <a:path w="9104533" h="5921099" fill="norm" stroke="1" extrusionOk="0">
                <a:moveTo>
                  <a:pt x="0" y="0"/>
                </a:moveTo>
                <a:lnTo>
                  <a:pt x="9104533" y="0"/>
                </a:lnTo>
                <a:lnTo>
                  <a:pt x="9104533" y="5921098"/>
                </a:lnTo>
                <a:lnTo>
                  <a:pt x="0" y="5921098"/>
                </a:lnTo>
                <a:lnTo>
                  <a:pt x="0" y="0"/>
                </a:lnTo>
                <a:close/>
              </a:path>
            </a:pathLst>
          </a:custGeom>
          <a:blipFill>
            <a:blip r:embed="rId8"/>
            <a:srcRect l="0" t="0" r="0" b="1462"/>
            <a:stretch/>
          </a:blipFill>
        </p:spPr>
      </p:sp>
      <p:sp>
        <p:nvSpPr>
          <p:cNvPr id="8" name="TextBox 8"/>
          <p:cNvSpPr txBox="1"/>
          <p:nvPr/>
        </p:nvSpPr>
        <p:spPr bwMode="auto">
          <a:xfrm rot="0">
            <a:off x="3687156" y="819841"/>
            <a:ext cx="11993600" cy="1575192"/>
          </a:xfrm>
          <a:prstGeom prst="rect">
            <a:avLst/>
          </a:prstGeom>
        </p:spPr>
        <p:txBody>
          <a:bodyPr lIns="0" tIns="0" rIns="0" bIns="0" rtlCol="0" anchor="t">
            <a:spAutoFit/>
          </a:bodyPr>
          <a:lstStyle/>
          <a:p>
            <a:pPr algn="l">
              <a:lnSpc>
                <a:spcPts val="6065"/>
              </a:lnSpc>
              <a:defRPr/>
            </a:pPr>
            <a:r>
              <a:rPr lang="en-US" sz="6250" b="1">
                <a:solidFill>
                  <a:srgbClr val="000000"/>
                </a:solidFill>
                <a:latin typeface="DM Sans Bold"/>
                <a:ea typeface="DM Sans Bold"/>
                <a:cs typeface="DM Sans Bold"/>
              </a:rPr>
              <a:t> Report Generation</a:t>
            </a:r>
            <a:endParaRPr/>
          </a:p>
          <a:p>
            <a:pPr algn="l">
              <a:lnSpc>
                <a:spcPts val="6065"/>
              </a:lnSpc>
              <a:defRPr/>
            </a:pPr>
            <a:endParaRPr/>
          </a:p>
        </p:txBody>
      </p:sp>
      <p:sp>
        <p:nvSpPr>
          <p:cNvPr id="9" name="TextBox 9"/>
          <p:cNvSpPr txBox="1"/>
          <p:nvPr/>
        </p:nvSpPr>
        <p:spPr bwMode="auto">
          <a:xfrm rot="0">
            <a:off x="9144000" y="1636191"/>
            <a:ext cx="9058516" cy="8579140"/>
          </a:xfrm>
          <a:prstGeom prst="rect">
            <a:avLst/>
          </a:prstGeom>
        </p:spPr>
        <p:txBody>
          <a:bodyPr lIns="0" tIns="0" rIns="0" bIns="0" rtlCol="0" anchor="t">
            <a:spAutoFit/>
          </a:bodyPr>
          <a:lstStyle/>
          <a:p>
            <a:pPr marL="572450" lvl="1" indent="-286225" algn="l">
              <a:lnSpc>
                <a:spcPts val="3579"/>
              </a:lnSpc>
              <a:buFont typeface="Arial"/>
              <a:buChar char="•"/>
              <a:defRPr/>
            </a:pPr>
            <a:r>
              <a:rPr lang="en-US" sz="2650" spc="159">
                <a:solidFill>
                  <a:srgbClr val="000000"/>
                </a:solidFill>
                <a:latin typeface="DM Sans"/>
                <a:ea typeface="DM Sans"/>
                <a:cs typeface="DM Sans"/>
              </a:rPr>
              <a:t>This is a sample report generated for a data.</a:t>
            </a:r>
            <a:endParaRPr/>
          </a:p>
          <a:p>
            <a:pPr marL="572450" lvl="1" indent="-286225" algn="l">
              <a:lnSpc>
                <a:spcPts val="3579"/>
              </a:lnSpc>
              <a:buFont typeface="Arial"/>
              <a:buChar char="•"/>
              <a:defRPr/>
            </a:pPr>
            <a:r>
              <a:rPr lang="en-US" sz="2650" u="none" spc="159">
                <a:solidFill>
                  <a:srgbClr val="000000"/>
                </a:solidFill>
                <a:latin typeface="DM Sans"/>
                <a:ea typeface="DM Sans"/>
                <a:cs typeface="DM Sans"/>
              </a:rPr>
              <a:t>Accuracy (0.944):</a:t>
            </a:r>
            <a:endParaRPr/>
          </a:p>
          <a:p>
            <a:pPr marL="1144900" lvl="2" indent="-381633" algn="l">
              <a:lnSpc>
                <a:spcPts val="3579"/>
              </a:lnSpc>
              <a:buFont typeface="Arial"/>
              <a:buChar char="⚬"/>
              <a:defRPr/>
            </a:pPr>
            <a:r>
              <a:rPr lang="en-US" sz="2650" u="none" spc="159">
                <a:solidFill>
                  <a:srgbClr val="000000"/>
                </a:solidFill>
                <a:latin typeface="DM Sans"/>
                <a:ea typeface="DM Sans"/>
                <a:cs typeface="DM Sans"/>
              </a:rPr>
              <a:t>Measures the overall correctness of the model.</a:t>
            </a:r>
            <a:endParaRPr/>
          </a:p>
          <a:p>
            <a:pPr marL="1144900" lvl="2" indent="-381633" algn="l">
              <a:lnSpc>
                <a:spcPts val="3579"/>
              </a:lnSpc>
              <a:buFont typeface="Arial"/>
              <a:buChar char="⚬"/>
              <a:defRPr/>
            </a:pPr>
            <a:r>
              <a:rPr lang="en-US" sz="2650" u="none" spc="159">
                <a:solidFill>
                  <a:srgbClr val="000000"/>
                </a:solidFill>
                <a:latin typeface="DM Sans"/>
                <a:ea typeface="DM Sans"/>
                <a:cs typeface="DM Sans"/>
              </a:rPr>
              <a:t>94.4% of all predictions are correct. High accuracy, but can be misleading if classes are imbalanced.</a:t>
            </a:r>
            <a:endParaRPr/>
          </a:p>
          <a:p>
            <a:pPr marL="572450" lvl="1" indent="-286225" algn="l">
              <a:lnSpc>
                <a:spcPts val="3579"/>
              </a:lnSpc>
              <a:buFont typeface="Arial"/>
              <a:buChar char="•"/>
              <a:defRPr/>
            </a:pPr>
            <a:r>
              <a:rPr lang="en-US" sz="2650" u="none" spc="159">
                <a:solidFill>
                  <a:srgbClr val="000000"/>
                </a:solidFill>
                <a:latin typeface="DM Sans"/>
                <a:ea typeface="DM Sans"/>
                <a:cs typeface="DM Sans"/>
              </a:rPr>
              <a:t>Precision (0.891):</a:t>
            </a:r>
            <a:endParaRPr/>
          </a:p>
          <a:p>
            <a:pPr marL="1144900" lvl="2" indent="-381633" algn="l">
              <a:lnSpc>
                <a:spcPts val="3579"/>
              </a:lnSpc>
              <a:buFont typeface="Arial"/>
              <a:buChar char="⚬"/>
              <a:defRPr/>
            </a:pPr>
            <a:r>
              <a:rPr lang="en-US" sz="2650" u="none" spc="159">
                <a:solidFill>
                  <a:srgbClr val="000000"/>
                </a:solidFill>
                <a:latin typeface="DM Sans"/>
                <a:ea typeface="DM Sans"/>
                <a:cs typeface="DM Sans"/>
              </a:rPr>
              <a:t>Indicates how many predicted positive cases are actually positive.</a:t>
            </a:r>
            <a:endParaRPr/>
          </a:p>
          <a:p>
            <a:pPr marL="1144900" lvl="2" indent="-381633" algn="l">
              <a:lnSpc>
                <a:spcPts val="3579"/>
              </a:lnSpc>
              <a:buFont typeface="Arial"/>
              <a:buChar char="⚬"/>
              <a:defRPr/>
            </a:pPr>
            <a:r>
              <a:rPr lang="en-US" sz="2650" u="none" spc="159">
                <a:solidFill>
                  <a:srgbClr val="000000"/>
                </a:solidFill>
                <a:latin typeface="DM Sans"/>
                <a:ea typeface="DM Sans"/>
                <a:cs typeface="DM Sans"/>
              </a:rPr>
              <a:t>89.1% of positive predictions are correct. High precision means fewer false positives.</a:t>
            </a:r>
            <a:endParaRPr/>
          </a:p>
          <a:p>
            <a:pPr marL="572450" lvl="1" indent="-286225" algn="l">
              <a:lnSpc>
                <a:spcPts val="3579"/>
              </a:lnSpc>
              <a:buFont typeface="Arial"/>
              <a:buChar char="•"/>
              <a:defRPr/>
            </a:pPr>
            <a:r>
              <a:rPr lang="en-US" sz="2650" u="none" spc="159">
                <a:solidFill>
                  <a:srgbClr val="000000"/>
                </a:solidFill>
                <a:latin typeface="DM Sans"/>
                <a:ea typeface="DM Sans"/>
                <a:cs typeface="DM Sans"/>
              </a:rPr>
              <a:t>Recall (Sensitivity) (0.638):</a:t>
            </a:r>
            <a:endParaRPr/>
          </a:p>
          <a:p>
            <a:pPr marL="1144900" lvl="2" indent="-381633" algn="l">
              <a:lnSpc>
                <a:spcPts val="3579"/>
              </a:lnSpc>
              <a:buFont typeface="Arial"/>
              <a:buChar char="⚬"/>
              <a:defRPr/>
            </a:pPr>
            <a:r>
              <a:rPr lang="en-US" sz="2650" u="none" spc="159">
                <a:solidFill>
                  <a:srgbClr val="000000"/>
                </a:solidFill>
                <a:latin typeface="DM Sans"/>
                <a:ea typeface="DM Sans"/>
                <a:cs typeface="DM Sans"/>
              </a:rPr>
              <a:t>Measures how many actual positive cases are correctly predicted.</a:t>
            </a:r>
            <a:endParaRPr/>
          </a:p>
          <a:p>
            <a:pPr marL="1144900" lvl="2" indent="-381633" algn="l">
              <a:lnSpc>
                <a:spcPts val="3579"/>
              </a:lnSpc>
              <a:buFont typeface="Arial"/>
              <a:buChar char="⚬"/>
              <a:defRPr/>
            </a:pPr>
            <a:r>
              <a:rPr lang="en-US" sz="2650" u="none" spc="159">
                <a:solidFill>
                  <a:srgbClr val="000000"/>
                </a:solidFill>
                <a:latin typeface="DM Sans"/>
                <a:ea typeface="DM Sans"/>
                <a:cs typeface="DM Sans"/>
              </a:rPr>
              <a:t>63.8% of true positives are identified. Lower recall suggests the model misses some positives (false negatives).</a:t>
            </a:r>
            <a:endParaRPr/>
          </a:p>
          <a:p>
            <a:pPr marL="0" lvl="0" indent="0" algn="l">
              <a:lnSpc>
                <a:spcPts val="3579"/>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TextBox 7"/>
          <p:cNvSpPr txBox="1"/>
          <p:nvPr/>
        </p:nvSpPr>
        <p:spPr bwMode="auto">
          <a:xfrm rot="0">
            <a:off x="3687156" y="819841"/>
            <a:ext cx="11993600" cy="1575192"/>
          </a:xfrm>
          <a:prstGeom prst="rect">
            <a:avLst/>
          </a:prstGeom>
        </p:spPr>
        <p:txBody>
          <a:bodyPr lIns="0" tIns="0" rIns="0" bIns="0" rtlCol="0" anchor="t">
            <a:spAutoFit/>
          </a:bodyPr>
          <a:lstStyle/>
          <a:p>
            <a:pPr algn="l">
              <a:lnSpc>
                <a:spcPts val="6065"/>
              </a:lnSpc>
              <a:defRPr/>
            </a:pPr>
            <a:r>
              <a:rPr lang="en-US" sz="6250" b="1">
                <a:solidFill>
                  <a:srgbClr val="000000"/>
                </a:solidFill>
                <a:latin typeface="DM Sans Bold"/>
                <a:ea typeface="DM Sans Bold"/>
                <a:cs typeface="DM Sans Bold"/>
              </a:rPr>
              <a:t> Report Generation</a:t>
            </a:r>
            <a:endParaRPr/>
          </a:p>
          <a:p>
            <a:pPr algn="l">
              <a:lnSpc>
                <a:spcPts val="6065"/>
              </a:lnSpc>
              <a:defRPr/>
            </a:pPr>
            <a:endParaRPr/>
          </a:p>
        </p:txBody>
      </p:sp>
      <p:sp>
        <p:nvSpPr>
          <p:cNvPr id="8" name="TextBox 8"/>
          <p:cNvSpPr txBox="1"/>
          <p:nvPr/>
        </p:nvSpPr>
        <p:spPr bwMode="auto">
          <a:xfrm rot="0">
            <a:off x="900259" y="2210186"/>
            <a:ext cx="15371827" cy="5062740"/>
          </a:xfrm>
          <a:prstGeom prst="rect">
            <a:avLst/>
          </a:prstGeom>
        </p:spPr>
        <p:txBody>
          <a:bodyPr lIns="0" tIns="0" rIns="0" bIns="0" rtlCol="0" anchor="t">
            <a:spAutoFit/>
          </a:bodyPr>
          <a:lstStyle/>
          <a:p>
            <a:pPr marL="259080" lvl="1" indent="-129540" algn="l">
              <a:lnSpc>
                <a:spcPts val="1679"/>
              </a:lnSpc>
              <a:buFont typeface="Arial"/>
              <a:buChar char="•"/>
              <a:defRPr/>
            </a:pPr>
            <a:endParaRPr/>
          </a:p>
          <a:p>
            <a:pPr marL="621510" lvl="1" indent="-310755" algn="l">
              <a:lnSpc>
                <a:spcPts val="3886"/>
              </a:lnSpc>
              <a:buFont typeface="Arial"/>
              <a:buChar char="•"/>
              <a:defRPr/>
            </a:pPr>
            <a:r>
              <a:rPr lang="en-US" sz="2900" u="none" spc="172">
                <a:solidFill>
                  <a:srgbClr val="000000"/>
                </a:solidFill>
                <a:latin typeface="DM Sans"/>
                <a:ea typeface="DM Sans"/>
                <a:cs typeface="DM Sans"/>
              </a:rPr>
              <a:t>F1 Score (0.743):</a:t>
            </a:r>
            <a:endParaRPr/>
          </a:p>
          <a:p>
            <a:pPr marL="1243021" lvl="2" indent="-414340" algn="l">
              <a:lnSpc>
                <a:spcPts val="3886"/>
              </a:lnSpc>
              <a:buFont typeface="Arial"/>
              <a:buChar char="⚬"/>
              <a:defRPr/>
            </a:pPr>
            <a:r>
              <a:rPr lang="en-US" sz="2900" u="none" spc="172">
                <a:solidFill>
                  <a:srgbClr val="000000"/>
                </a:solidFill>
                <a:latin typeface="DM Sans"/>
                <a:ea typeface="DM Sans"/>
                <a:cs typeface="DM Sans"/>
              </a:rPr>
              <a:t>Harmonic mean of precision and recall. Balances both metrics.</a:t>
            </a:r>
            <a:endParaRPr/>
          </a:p>
          <a:p>
            <a:pPr marL="1243021" lvl="2" indent="-414340" algn="l">
              <a:lnSpc>
                <a:spcPts val="3886"/>
              </a:lnSpc>
              <a:buFont typeface="Arial"/>
              <a:buChar char="⚬"/>
              <a:defRPr/>
            </a:pPr>
            <a:r>
              <a:rPr lang="en-US" sz="2900" u="none" spc="172">
                <a:solidFill>
                  <a:srgbClr val="000000"/>
                </a:solidFill>
                <a:latin typeface="DM Sans"/>
                <a:ea typeface="DM Sans"/>
                <a:cs typeface="DM Sans"/>
              </a:rPr>
              <a:t>0.743 indicates a moderate balance (closer to 1 is better).</a:t>
            </a:r>
            <a:endParaRPr/>
          </a:p>
          <a:p>
            <a:pPr marL="621510" lvl="1" indent="-310755" algn="l">
              <a:lnSpc>
                <a:spcPts val="3886"/>
              </a:lnSpc>
              <a:buFont typeface="Arial"/>
              <a:buChar char="•"/>
              <a:defRPr/>
            </a:pPr>
            <a:r>
              <a:rPr lang="en-US" sz="2900" u="none" spc="172">
                <a:solidFill>
                  <a:srgbClr val="000000"/>
                </a:solidFill>
                <a:latin typeface="DM Sans"/>
                <a:ea typeface="DM Sans"/>
                <a:cs typeface="DM Sans"/>
              </a:rPr>
              <a:t>AUC-ROC (0.929):</a:t>
            </a:r>
            <a:endParaRPr/>
          </a:p>
          <a:p>
            <a:pPr marL="1243021" lvl="2" indent="-414340" algn="l">
              <a:lnSpc>
                <a:spcPts val="3886"/>
              </a:lnSpc>
              <a:buFont typeface="Arial"/>
              <a:buChar char="⚬"/>
              <a:defRPr/>
            </a:pPr>
            <a:r>
              <a:rPr lang="en-US" sz="2900" u="none" spc="172">
                <a:solidFill>
                  <a:srgbClr val="000000"/>
                </a:solidFill>
                <a:latin typeface="DM Sans"/>
                <a:ea typeface="DM Sans"/>
                <a:cs typeface="DM Sans"/>
              </a:rPr>
              <a:t>Evaluates the model’s ability to distinguish between classes.</a:t>
            </a:r>
            <a:endParaRPr/>
          </a:p>
          <a:p>
            <a:pPr marL="1243021" lvl="2" indent="-414340" algn="l">
              <a:lnSpc>
                <a:spcPts val="3886"/>
              </a:lnSpc>
              <a:buFont typeface="Arial"/>
              <a:buChar char="⚬"/>
              <a:defRPr/>
            </a:pPr>
            <a:r>
              <a:rPr lang="en-US" sz="2900" u="none" spc="172">
                <a:solidFill>
                  <a:srgbClr val="000000"/>
                </a:solidFill>
                <a:latin typeface="DM Sans"/>
                <a:ea typeface="DM Sans"/>
                <a:cs typeface="DM Sans"/>
              </a:rPr>
              <a:t>0.929 (close to 1) shows excellent classification performance.</a:t>
            </a:r>
            <a:endParaRPr/>
          </a:p>
          <a:p>
            <a:pPr marL="621510" lvl="1" indent="-310755" algn="l">
              <a:lnSpc>
                <a:spcPts val="3886"/>
              </a:lnSpc>
              <a:buFont typeface="Arial"/>
              <a:buChar char="•"/>
              <a:defRPr/>
            </a:pPr>
            <a:r>
              <a:rPr lang="en-US" sz="2900" u="none" spc="172">
                <a:solidFill>
                  <a:srgbClr val="000000"/>
                </a:solidFill>
                <a:latin typeface="DM Sans"/>
                <a:ea typeface="DM Sans"/>
                <a:cs typeface="DM Sans"/>
              </a:rPr>
              <a:t>Sensitivity (0.638):</a:t>
            </a:r>
            <a:endParaRPr/>
          </a:p>
          <a:p>
            <a:pPr marL="1243021" lvl="2" indent="-414340" algn="l">
              <a:lnSpc>
                <a:spcPts val="3886"/>
              </a:lnSpc>
              <a:buFont typeface="Arial"/>
              <a:buChar char="⚬"/>
              <a:defRPr/>
            </a:pPr>
            <a:r>
              <a:rPr lang="en-US" sz="2900" u="none" spc="172">
                <a:solidFill>
                  <a:srgbClr val="000000"/>
                </a:solidFill>
                <a:latin typeface="DM Sans"/>
                <a:ea typeface="DM Sans"/>
                <a:cs typeface="DM Sans"/>
              </a:rPr>
              <a:t>Same as recall. Confirms 63.8% of actual positives are captured.</a:t>
            </a:r>
            <a:endParaRPr/>
          </a:p>
          <a:p>
            <a:pPr marL="0" lvl="0" indent="0" algn="l">
              <a:lnSpc>
                <a:spcPts val="3886"/>
              </a:lnSpc>
              <a:spcBef>
                <a:spcPts val="0"/>
              </a:spcBef>
              <a:defRPr/>
            </a:pPr>
            <a:endParaRPr/>
          </a:p>
          <a:p>
            <a:pPr marL="0" lvl="0" indent="0" algn="l">
              <a:lnSpc>
                <a:spcPts val="3886"/>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Freeform 7"/>
          <p:cNvSpPr/>
          <p:nvPr/>
        </p:nvSpPr>
        <p:spPr bwMode="auto">
          <a:xfrm rot="0" flipH="0" flipV="0">
            <a:off x="734053" y="4412167"/>
            <a:ext cx="14325312" cy="1128118"/>
          </a:xfrm>
          <a:custGeom>
            <a:avLst/>
            <a:gdLst/>
            <a:ahLst/>
            <a:cxnLst/>
            <a:rect l="l" t="t" r="r" b="b"/>
            <a:pathLst>
              <a:path w="14325312" h="1128118" fill="norm" stroke="1" extrusionOk="0">
                <a:moveTo>
                  <a:pt x="0" y="0"/>
                </a:moveTo>
                <a:lnTo>
                  <a:pt x="14325313" y="0"/>
                </a:lnTo>
                <a:lnTo>
                  <a:pt x="14325313" y="1128118"/>
                </a:lnTo>
                <a:lnTo>
                  <a:pt x="0" y="1128118"/>
                </a:lnTo>
                <a:lnTo>
                  <a:pt x="0" y="0"/>
                </a:lnTo>
                <a:close/>
              </a:path>
            </a:pathLst>
          </a:custGeom>
          <a:blipFill>
            <a:blip r:embed="rId8"/>
            <a:srcRect l="0" t="0" r="0" b="0"/>
            <a:stretch/>
          </a:blipFill>
        </p:spPr>
      </p:sp>
      <p:sp>
        <p:nvSpPr>
          <p:cNvPr id="8" name="TextBox 8"/>
          <p:cNvSpPr txBox="1"/>
          <p:nvPr/>
        </p:nvSpPr>
        <p:spPr bwMode="auto">
          <a:xfrm rot="0">
            <a:off x="3687156" y="1203692"/>
            <a:ext cx="11993600" cy="807489"/>
          </a:xfrm>
          <a:prstGeom prst="rect">
            <a:avLst/>
          </a:prstGeom>
        </p:spPr>
        <p:txBody>
          <a:bodyPr lIns="0" tIns="0" rIns="0" bIns="0" rtlCol="0" anchor="t">
            <a:spAutoFit/>
          </a:bodyPr>
          <a:lstStyle/>
          <a:p>
            <a:pPr algn="l">
              <a:lnSpc>
                <a:spcPts val="6065"/>
              </a:lnSpc>
              <a:defRPr/>
            </a:pPr>
            <a:r>
              <a:rPr lang="en-US" sz="6250" b="1">
                <a:solidFill>
                  <a:srgbClr val="000000"/>
                </a:solidFill>
                <a:latin typeface="DM Sans Bold"/>
                <a:ea typeface="DM Sans Bold"/>
                <a:cs typeface="DM Sans Bold"/>
              </a:rPr>
              <a:t>Conformity Scores</a:t>
            </a:r>
            <a:endParaRPr/>
          </a:p>
        </p:txBody>
      </p:sp>
      <p:sp>
        <p:nvSpPr>
          <p:cNvPr id="9" name="TextBox 9"/>
          <p:cNvSpPr txBox="1"/>
          <p:nvPr/>
        </p:nvSpPr>
        <p:spPr bwMode="auto">
          <a:xfrm rot="0">
            <a:off x="584111" y="2532947"/>
            <a:ext cx="17119777" cy="1850645"/>
          </a:xfrm>
          <a:prstGeom prst="rect">
            <a:avLst/>
          </a:prstGeom>
        </p:spPr>
        <p:txBody>
          <a:bodyPr lIns="0" tIns="0" rIns="0" bIns="0" rtlCol="0" anchor="t">
            <a:spAutoFit/>
          </a:bodyPr>
          <a:lstStyle/>
          <a:p>
            <a:pPr algn="l">
              <a:lnSpc>
                <a:spcPts val="3730"/>
              </a:lnSpc>
              <a:defRPr/>
            </a:pPr>
            <a:r>
              <a:rPr lang="en-US" sz="2750" spc="165">
                <a:solidFill>
                  <a:srgbClr val="000000"/>
                </a:solidFill>
                <a:latin typeface="DM Sans"/>
                <a:ea typeface="DM Sans"/>
                <a:cs typeface="DM Sans"/>
              </a:rPr>
              <a:t>The train_and_evaluate() function:</a:t>
            </a:r>
            <a:endParaRPr/>
          </a:p>
          <a:p>
            <a:pPr marL="596589" lvl="1" indent="-298294" algn="l">
              <a:lnSpc>
                <a:spcPts val="3730"/>
              </a:lnSpc>
              <a:buAutoNum type="arabicPeriod" startAt="1"/>
              <a:defRPr/>
            </a:pPr>
            <a:r>
              <a:rPr lang="en-US" sz="2750" spc="165">
                <a:solidFill>
                  <a:srgbClr val="000000"/>
                </a:solidFill>
                <a:latin typeface="DM Sans"/>
                <a:ea typeface="DM Sans"/>
                <a:cs typeface="DM Sans"/>
              </a:rPr>
              <a:t>Splits data into train (80%) and test (20%) sets using train_test_split().</a:t>
            </a:r>
            <a:endParaRPr/>
          </a:p>
          <a:p>
            <a:pPr marL="596589" lvl="1" indent="-298294" algn="l">
              <a:lnSpc>
                <a:spcPts val="3730"/>
              </a:lnSpc>
              <a:spcBef>
                <a:spcPts val="0"/>
              </a:spcBef>
              <a:buAutoNum type="arabicPeriod" startAt="1"/>
              <a:defRPr/>
            </a:pPr>
            <a:r>
              <a:rPr lang="en-US" sz="2750" spc="165">
                <a:solidFill>
                  <a:srgbClr val="000000"/>
                </a:solidFill>
                <a:latin typeface="DM Sans"/>
                <a:ea typeface="DM Sans"/>
                <a:cs typeface="DM Sans"/>
              </a:rPr>
              <a:t>Computes conformity scores only for the test set:</a:t>
            </a:r>
            <a:endParaRPr/>
          </a:p>
          <a:p>
            <a:pPr marL="0" lvl="0" indent="0" algn="l">
              <a:lnSpc>
                <a:spcPts val="3730"/>
              </a:lnSpc>
              <a:spcBef>
                <a:spcPts val="0"/>
              </a:spcBef>
              <a:defRPr/>
            </a:pPr>
            <a:endParaRPr/>
          </a:p>
        </p:txBody>
      </p:sp>
      <p:sp>
        <p:nvSpPr>
          <p:cNvPr id="10" name="TextBox 10"/>
          <p:cNvSpPr txBox="1"/>
          <p:nvPr/>
        </p:nvSpPr>
        <p:spPr bwMode="auto">
          <a:xfrm rot="0">
            <a:off x="534869" y="6064160"/>
            <a:ext cx="17119777" cy="1850645"/>
          </a:xfrm>
          <a:prstGeom prst="rect">
            <a:avLst/>
          </a:prstGeom>
        </p:spPr>
        <p:txBody>
          <a:bodyPr lIns="0" tIns="0" rIns="0" bIns="0" rtlCol="0" anchor="t">
            <a:spAutoFit/>
          </a:bodyPr>
          <a:lstStyle/>
          <a:p>
            <a:pPr algn="l">
              <a:lnSpc>
                <a:spcPts val="3730"/>
              </a:lnSpc>
              <a:defRPr/>
            </a:pPr>
            <a:r>
              <a:rPr lang="en-US" sz="2750" spc="165">
                <a:solidFill>
                  <a:srgbClr val="000000"/>
                </a:solidFill>
                <a:latin typeface="DM Sans"/>
                <a:ea typeface="DM Sans"/>
                <a:cs typeface="DM Sans"/>
              </a:rPr>
              <a:t>Importance</a:t>
            </a:r>
            <a:endParaRPr/>
          </a:p>
          <a:p>
            <a:pPr algn="l">
              <a:lnSpc>
                <a:spcPts val="3730"/>
              </a:lnSpc>
              <a:spcBef>
                <a:spcPts val="0"/>
              </a:spcBef>
              <a:defRPr/>
            </a:pPr>
            <a:r>
              <a:rPr lang="en-US" sz="2750" spc="165">
                <a:solidFill>
                  <a:srgbClr val="000000"/>
                </a:solidFill>
                <a:latin typeface="DM Sans"/>
                <a:ea typeface="DM Sans"/>
                <a:cs typeface="DM Sans"/>
              </a:rPr>
              <a:t>Provides an unbiased estimate of model confidence on new, unseen samples.</a:t>
            </a:r>
            <a:endParaRPr/>
          </a:p>
          <a:p>
            <a:pPr algn="l">
              <a:lnSpc>
                <a:spcPts val="3730"/>
              </a:lnSpc>
              <a:spcBef>
                <a:spcPts val="0"/>
              </a:spcBef>
              <a:defRPr/>
            </a:pPr>
            <a:r>
              <a:rPr lang="en-US" sz="2750" u="none" spc="165">
                <a:solidFill>
                  <a:srgbClr val="000000"/>
                </a:solidFill>
                <a:latin typeface="DM Sans"/>
                <a:ea typeface="DM Sans"/>
                <a:cs typeface="DM Sans"/>
              </a:rPr>
              <a:t>The current implementation correctly focuses on test-set conformity scores for reliable evaluation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Freeform 7"/>
          <p:cNvSpPr/>
          <p:nvPr/>
        </p:nvSpPr>
        <p:spPr bwMode="auto">
          <a:xfrm rot="0" flipH="0" flipV="0">
            <a:off x="703421" y="5320886"/>
            <a:ext cx="11301259" cy="4463997"/>
          </a:xfrm>
          <a:custGeom>
            <a:avLst/>
            <a:gdLst/>
            <a:ahLst/>
            <a:cxnLst/>
            <a:rect l="l" t="t" r="r" b="b"/>
            <a:pathLst>
              <a:path w="11301259" h="4463997" fill="norm" stroke="1" extrusionOk="0">
                <a:moveTo>
                  <a:pt x="0" y="0"/>
                </a:moveTo>
                <a:lnTo>
                  <a:pt x="11301259" y="0"/>
                </a:lnTo>
                <a:lnTo>
                  <a:pt x="11301259" y="4463997"/>
                </a:lnTo>
                <a:lnTo>
                  <a:pt x="0" y="4463997"/>
                </a:lnTo>
                <a:lnTo>
                  <a:pt x="0" y="0"/>
                </a:lnTo>
                <a:close/>
              </a:path>
            </a:pathLst>
          </a:custGeom>
          <a:blipFill>
            <a:blip r:embed="rId8"/>
            <a:srcRect l="0" t="0" r="0" b="0"/>
            <a:stretch/>
          </a:blipFill>
        </p:spPr>
      </p:sp>
      <p:sp>
        <p:nvSpPr>
          <p:cNvPr id="8" name="TextBox 8"/>
          <p:cNvSpPr txBox="1"/>
          <p:nvPr/>
        </p:nvSpPr>
        <p:spPr bwMode="auto">
          <a:xfrm rot="0">
            <a:off x="3372392" y="1171575"/>
            <a:ext cx="13009428" cy="807489"/>
          </a:xfrm>
          <a:prstGeom prst="rect">
            <a:avLst/>
          </a:prstGeom>
        </p:spPr>
        <p:txBody>
          <a:bodyPr lIns="0" tIns="0" rIns="0" bIns="0" rtlCol="0" anchor="t">
            <a:spAutoFit/>
          </a:bodyPr>
          <a:lstStyle/>
          <a:p>
            <a:pPr algn="l">
              <a:lnSpc>
                <a:spcPts val="6065"/>
              </a:lnSpc>
              <a:defRPr/>
            </a:pPr>
            <a:r>
              <a:rPr lang="en-US" sz="6250" b="1">
                <a:solidFill>
                  <a:srgbClr val="000000"/>
                </a:solidFill>
                <a:latin typeface="DM Sans Bold"/>
                <a:ea typeface="DM Sans Bold"/>
                <a:cs typeface="DM Sans Bold"/>
              </a:rPr>
              <a:t>Conformity Score Interpretation</a:t>
            </a:r>
            <a:endParaRPr/>
          </a:p>
        </p:txBody>
      </p:sp>
      <p:sp>
        <p:nvSpPr>
          <p:cNvPr id="9" name="TextBox 9"/>
          <p:cNvSpPr txBox="1"/>
          <p:nvPr/>
        </p:nvSpPr>
        <p:spPr bwMode="auto">
          <a:xfrm rot="0">
            <a:off x="703421" y="2547215"/>
            <a:ext cx="17119777" cy="3267820"/>
          </a:xfrm>
          <a:prstGeom prst="rect">
            <a:avLst/>
          </a:prstGeom>
        </p:spPr>
        <p:txBody>
          <a:bodyPr lIns="0" tIns="0" rIns="0" bIns="0" rtlCol="0" anchor="t">
            <a:spAutoFit/>
          </a:bodyPr>
          <a:lstStyle/>
          <a:p>
            <a:pPr algn="l">
              <a:lnSpc>
                <a:spcPts val="3730"/>
              </a:lnSpc>
              <a:defRPr/>
            </a:pPr>
            <a:r>
              <a:rPr lang="en-US" sz="2750" spc="165">
                <a:solidFill>
                  <a:srgbClr val="000000"/>
                </a:solidFill>
                <a:latin typeface="DM Sans"/>
                <a:ea typeface="DM Sans"/>
                <a:cs typeface="DM Sans"/>
              </a:rPr>
              <a:t>Formula:</a:t>
            </a:r>
            <a:endParaRPr/>
          </a:p>
          <a:p>
            <a:pPr algn="l">
              <a:lnSpc>
                <a:spcPts val="3730"/>
              </a:lnSpc>
              <a:defRPr/>
            </a:pPr>
            <a:r>
              <a:rPr lang="en-US" sz="2750" spc="165">
                <a:solidFill>
                  <a:srgbClr val="000000"/>
                </a:solidFill>
                <a:latin typeface="DM Sans"/>
                <a:ea typeface="DM Sans"/>
                <a:cs typeface="DM Sans"/>
              </a:rPr>
              <a:t>Conformity Score = 1 - |Predicted Probability - True Label|</a:t>
            </a:r>
            <a:endParaRPr/>
          </a:p>
          <a:p>
            <a:pPr marL="596589" lvl="1" indent="-298294" algn="l">
              <a:lnSpc>
                <a:spcPts val="3730"/>
              </a:lnSpc>
              <a:buFont typeface="Arial"/>
              <a:buChar char="•"/>
              <a:defRPr/>
            </a:pPr>
            <a:r>
              <a:rPr lang="en-US" sz="2750" spc="165">
                <a:solidFill>
                  <a:srgbClr val="000000"/>
                </a:solidFill>
                <a:latin typeface="DM Sans"/>
                <a:ea typeface="DM Sans"/>
                <a:cs typeface="DM Sans"/>
              </a:rPr>
              <a:t>Good Scores: Close to 1.0 (model is confident and correct).</a:t>
            </a:r>
            <a:endParaRPr/>
          </a:p>
          <a:p>
            <a:pPr marL="596589" lvl="1" indent="-298294" algn="l">
              <a:lnSpc>
                <a:spcPts val="3730"/>
              </a:lnSpc>
              <a:buFont typeface="Arial"/>
              <a:buChar char="•"/>
              <a:defRPr/>
            </a:pPr>
            <a:r>
              <a:rPr lang="en-US" sz="2750" spc="165">
                <a:solidFill>
                  <a:srgbClr val="000000"/>
                </a:solidFill>
                <a:latin typeface="DM Sans"/>
                <a:ea typeface="DM Sans"/>
                <a:cs typeface="DM Sans"/>
              </a:rPr>
              <a:t>Bad Scores: Close to 0.0 (model is wrong or uncertain).</a:t>
            </a:r>
            <a:endParaRPr/>
          </a:p>
          <a:p>
            <a:pPr algn="l">
              <a:lnSpc>
                <a:spcPts val="3730"/>
              </a:lnSpc>
              <a:spcBef>
                <a:spcPts val="0"/>
              </a:spcBef>
              <a:defRPr/>
            </a:pPr>
            <a:endParaRPr/>
          </a:p>
          <a:p>
            <a:pPr marL="0" lvl="0" indent="0" algn="l">
              <a:lnSpc>
                <a:spcPts val="3730"/>
              </a:lnSpc>
              <a:spcBef>
                <a:spcPts val="0"/>
              </a:spcBef>
              <a:defRPr/>
            </a:pPr>
            <a:endParaRPr/>
          </a:p>
          <a:p>
            <a:pPr marL="0" lvl="0" indent="0" algn="l">
              <a:lnSpc>
                <a:spcPts val="3730"/>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TextBox 7"/>
          <p:cNvSpPr txBox="1"/>
          <p:nvPr/>
        </p:nvSpPr>
        <p:spPr bwMode="auto">
          <a:xfrm rot="0">
            <a:off x="3372392" y="1231894"/>
            <a:ext cx="13009428" cy="667801"/>
          </a:xfrm>
          <a:prstGeom prst="rect">
            <a:avLst/>
          </a:prstGeom>
        </p:spPr>
        <p:txBody>
          <a:bodyPr lIns="0" tIns="0" rIns="0" bIns="0" rtlCol="0" anchor="t">
            <a:spAutoFit/>
          </a:bodyPr>
          <a:lstStyle/>
          <a:p>
            <a:pPr algn="l">
              <a:lnSpc>
                <a:spcPts val="5095"/>
              </a:lnSpc>
              <a:defRPr/>
            </a:pPr>
            <a:r>
              <a:rPr lang="en-US" sz="5250" b="1">
                <a:solidFill>
                  <a:srgbClr val="000000"/>
                </a:solidFill>
                <a:latin typeface="DM Sans Bold"/>
                <a:ea typeface="DM Sans Bold"/>
                <a:cs typeface="DM Sans Bold"/>
              </a:rPr>
              <a:t>How does this neural  network work? (1)</a:t>
            </a:r>
            <a:endParaRPr/>
          </a:p>
        </p:txBody>
      </p:sp>
      <p:sp>
        <p:nvSpPr>
          <p:cNvPr id="8" name="TextBox 8"/>
          <p:cNvSpPr txBox="1"/>
          <p:nvPr/>
        </p:nvSpPr>
        <p:spPr bwMode="auto">
          <a:xfrm rot="0">
            <a:off x="1458086" y="3356038"/>
            <a:ext cx="15371827" cy="5537073"/>
          </a:xfrm>
          <a:prstGeom prst="rect">
            <a:avLst/>
          </a:prstGeom>
        </p:spPr>
        <p:txBody>
          <a:bodyPr lIns="0" tIns="0" rIns="0" bIns="0" rtlCol="0" anchor="t">
            <a:spAutoFit/>
          </a:bodyPr>
          <a:lstStyle/>
          <a:p>
            <a:pPr marL="621792" lvl="1" indent="-310896" algn="l">
              <a:lnSpc>
                <a:spcPts val="4031"/>
              </a:lnSpc>
              <a:buFont typeface="Arial"/>
              <a:buChar char="•"/>
              <a:defRPr/>
            </a:pPr>
            <a:r>
              <a:rPr lang="en-US" sz="2900" b="1">
                <a:solidFill>
                  <a:srgbClr val="000000"/>
                </a:solidFill>
                <a:latin typeface="DM Sans Bold"/>
                <a:ea typeface="DM Sans Bold"/>
                <a:cs typeface="DM Sans Bold"/>
              </a:rPr>
              <a:t>Architecture:</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Sequential model with 4 dense layers (128, 64, 32, 1 neurons)</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Initialization:</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Uses He normal initialization for weight matrices</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Activation:</a:t>
            </a:r>
            <a:r>
              <a:rPr lang="en-US" sz="2900">
                <a:solidFill>
                  <a:srgbClr val="000000"/>
                </a:solidFill>
                <a:latin typeface="DM Sans"/>
                <a:ea typeface="DM Sans"/>
                <a:cs typeface="DM Sans"/>
              </a:rPr>
              <a:t> </a:t>
            </a:r>
            <a:endParaRPr/>
          </a:p>
          <a:p>
            <a:pPr algn="l">
              <a:lnSpc>
                <a:spcPts val="4031"/>
              </a:lnSpc>
              <a:defRPr/>
            </a:pPr>
            <a:r>
              <a:rPr lang="en-US" sz="2900">
                <a:solidFill>
                  <a:srgbClr val="000000"/>
                </a:solidFill>
                <a:latin typeface="DM Sans"/>
                <a:ea typeface="DM Sans"/>
                <a:cs typeface="DM Sans"/>
              </a:rPr>
              <a:t>      - </a:t>
            </a:r>
            <a:r>
              <a:rPr lang="en-US" sz="2900" i="1">
                <a:solidFill>
                  <a:srgbClr val="000000"/>
                </a:solidFill>
                <a:latin typeface="DM Sans Italics"/>
                <a:ea typeface="DM Sans Italics"/>
                <a:cs typeface="DM Sans Italics"/>
              </a:rPr>
              <a:t>First layer: Swish activation</a:t>
            </a:r>
            <a:endParaRPr/>
          </a:p>
          <a:p>
            <a:pPr algn="l">
              <a:lnSpc>
                <a:spcPts val="4031"/>
              </a:lnSpc>
              <a:defRPr/>
            </a:pPr>
            <a:r>
              <a:rPr lang="en-US" sz="2900" i="1">
                <a:solidFill>
                  <a:srgbClr val="000000"/>
                </a:solidFill>
                <a:latin typeface="DM Sans Italics"/>
                <a:ea typeface="DM Sans Italics"/>
                <a:cs typeface="DM Sans Italics"/>
              </a:rPr>
              <a:t>      - Hidden layers: LeakyReLU (α=0.01) with Batch Normalization</a:t>
            </a:r>
            <a:endParaRPr/>
          </a:p>
          <a:p>
            <a:pPr algn="l">
              <a:lnSpc>
                <a:spcPts val="4031"/>
              </a:lnSpc>
              <a:defRPr/>
            </a:pPr>
            <a:r>
              <a:rPr lang="en-US" sz="2900" i="1">
                <a:solidFill>
                  <a:srgbClr val="000000"/>
                </a:solidFill>
                <a:latin typeface="DM Sans Italics"/>
                <a:ea typeface="DM Sans Italics"/>
                <a:cs typeface="DM Sans Italics"/>
              </a:rPr>
              <a:t>      - Output: Sigmoid (for binary classification)  </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Regularization</a:t>
            </a:r>
            <a:r>
              <a:rPr lang="en-US" sz="2900">
                <a:solidFill>
                  <a:srgbClr val="000000"/>
                </a:solidFill>
                <a:latin typeface="DM Sans"/>
                <a:ea typeface="DM Sans"/>
                <a:cs typeface="DM Sans"/>
              </a:rPr>
              <a:t>:</a:t>
            </a:r>
            <a:endParaRPr/>
          </a:p>
          <a:p>
            <a:pPr algn="l">
              <a:lnSpc>
                <a:spcPts val="4031"/>
              </a:lnSpc>
              <a:defRPr/>
            </a:pPr>
            <a:r>
              <a:rPr lang="en-US" sz="2900" i="1">
                <a:solidFill>
                  <a:srgbClr val="000000"/>
                </a:solidFill>
                <a:latin typeface="DM Sans Italics"/>
                <a:ea typeface="DM Sans Italics"/>
                <a:cs typeface="DM Sans Italics"/>
              </a:rPr>
              <a:t>      - Dropout (20%) after first two hidden layers</a:t>
            </a:r>
            <a:endParaRPr/>
          </a:p>
          <a:p>
            <a:pPr algn="l">
              <a:lnSpc>
                <a:spcPts val="4031"/>
              </a:lnSpc>
              <a:defRPr/>
            </a:pPr>
            <a:r>
              <a:rPr lang="en-US" sz="2900" i="1">
                <a:solidFill>
                  <a:srgbClr val="000000"/>
                </a:solidFill>
                <a:latin typeface="DM Sans Italics"/>
                <a:ea typeface="DM Sans Italics"/>
                <a:cs typeface="DM Sans Italics"/>
              </a:rPr>
              <a:t>      - Batch Normalization between layers</a:t>
            </a:r>
            <a:endParaRPr/>
          </a:p>
          <a:p>
            <a:pPr algn="l">
              <a:lnSpc>
                <a:spcPts val="4031"/>
              </a:lnSpc>
              <a:defRPr/>
            </a:pPr>
            <a:endParaRPr/>
          </a:p>
          <a:p>
            <a:pPr algn="l">
              <a:lnSpc>
                <a:spcPts val="4031"/>
              </a:lnSpc>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TextBox 7"/>
          <p:cNvSpPr txBox="1"/>
          <p:nvPr/>
        </p:nvSpPr>
        <p:spPr bwMode="auto">
          <a:xfrm rot="0">
            <a:off x="3372392" y="1231894"/>
            <a:ext cx="13009428" cy="667801"/>
          </a:xfrm>
          <a:prstGeom prst="rect">
            <a:avLst/>
          </a:prstGeom>
        </p:spPr>
        <p:txBody>
          <a:bodyPr lIns="0" tIns="0" rIns="0" bIns="0" rtlCol="0" anchor="t">
            <a:spAutoFit/>
          </a:bodyPr>
          <a:lstStyle/>
          <a:p>
            <a:pPr algn="l">
              <a:lnSpc>
                <a:spcPts val="5095"/>
              </a:lnSpc>
              <a:defRPr/>
            </a:pPr>
            <a:r>
              <a:rPr lang="en-US" sz="5250" b="1">
                <a:solidFill>
                  <a:srgbClr val="000000"/>
                </a:solidFill>
                <a:latin typeface="DM Sans Bold"/>
                <a:ea typeface="DM Sans Bold"/>
                <a:cs typeface="DM Sans Bold"/>
              </a:rPr>
              <a:t>How does this neural  network work? (2)</a:t>
            </a:r>
            <a:endParaRPr/>
          </a:p>
        </p:txBody>
      </p:sp>
      <p:sp>
        <p:nvSpPr>
          <p:cNvPr id="8" name="TextBox 8"/>
          <p:cNvSpPr txBox="1"/>
          <p:nvPr/>
        </p:nvSpPr>
        <p:spPr bwMode="auto">
          <a:xfrm rot="0">
            <a:off x="1458086" y="3550839"/>
            <a:ext cx="15371827" cy="4022598"/>
          </a:xfrm>
          <a:prstGeom prst="rect">
            <a:avLst/>
          </a:prstGeom>
        </p:spPr>
        <p:txBody>
          <a:bodyPr lIns="0" tIns="0" rIns="0" bIns="0" rtlCol="0" anchor="t">
            <a:spAutoFit/>
          </a:bodyPr>
          <a:lstStyle/>
          <a:p>
            <a:pPr marL="621792" lvl="1" indent="-310896" algn="l">
              <a:lnSpc>
                <a:spcPts val="4031"/>
              </a:lnSpc>
              <a:buFont typeface="Arial"/>
              <a:buChar char="•"/>
              <a:defRPr/>
            </a:pPr>
            <a:r>
              <a:rPr lang="en-US" sz="2900" b="1">
                <a:solidFill>
                  <a:srgbClr val="000000"/>
                </a:solidFill>
                <a:latin typeface="DM Sans Bold"/>
                <a:ea typeface="DM Sans Bold"/>
                <a:cs typeface="DM Sans Bold"/>
              </a:rPr>
              <a:t>Optimization:</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Adam optimizer with learning rate 0.0005</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Loss Function:</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Binary cross-entropy (standard for binary classification)</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Metrics Tracked:</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Accuracy and AUC during training</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Input Processing:</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Features are standardized using StandardScaler</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Training:</a:t>
            </a:r>
            <a:r>
              <a:rPr lang="en-US" sz="2900">
                <a:solidFill>
                  <a:srgbClr val="000000"/>
                </a:solidFill>
                <a:latin typeface="DM Sans"/>
                <a:ea typeface="DM Sans"/>
                <a:cs typeface="DM Sans"/>
              </a:rPr>
              <a:t> </a:t>
            </a:r>
            <a:r>
              <a:rPr lang="en-US" sz="2900" i="1">
                <a:solidFill>
                  <a:srgbClr val="000000"/>
                </a:solidFill>
                <a:latin typeface="DM Sans Italics"/>
                <a:ea typeface="DM Sans Italics"/>
                <a:cs typeface="DM Sans Italics"/>
              </a:rPr>
              <a:t>150 epochs with batch size 50, 20% validation split</a:t>
            </a:r>
            <a:endParaRPr/>
          </a:p>
          <a:p>
            <a:pPr marL="621792" lvl="1" indent="-310896" algn="l">
              <a:lnSpc>
                <a:spcPts val="4031"/>
              </a:lnSpc>
              <a:buFont typeface="Arial"/>
              <a:buChar char="•"/>
              <a:defRPr/>
            </a:pPr>
            <a:r>
              <a:rPr lang="en-US" sz="2900" b="1">
                <a:solidFill>
                  <a:srgbClr val="000000"/>
                </a:solidFill>
                <a:latin typeface="DM Sans Bold"/>
                <a:ea typeface="DM Sans Bold"/>
                <a:cs typeface="DM Sans Bold"/>
              </a:rPr>
              <a:t>Output Interpretation:</a:t>
            </a:r>
            <a:r>
              <a:rPr lang="en-US" sz="2900">
                <a:solidFill>
                  <a:srgbClr val="000000"/>
                </a:solidFill>
                <a:latin typeface="DM Sans"/>
                <a:ea typeface="DM Sans"/>
                <a:cs typeface="DM Sans"/>
              </a:rPr>
              <a:t> </a:t>
            </a:r>
            <a:endParaRPr/>
          </a:p>
          <a:p>
            <a:pPr algn="l">
              <a:lnSpc>
                <a:spcPts val="4031"/>
              </a:lnSpc>
              <a:defRPr/>
            </a:pPr>
            <a:r>
              <a:rPr lang="en-US" sz="2900" i="1">
                <a:solidFill>
                  <a:srgbClr val="000000"/>
                </a:solidFill>
                <a:latin typeface="DM Sans Italics"/>
                <a:ea typeface="DM Sans Italics"/>
                <a:cs typeface="DM Sans Italics"/>
              </a:rPr>
              <a:t>       - &gt;0.5 = "False Data"</a:t>
            </a:r>
            <a:endParaRPr/>
          </a:p>
          <a:p>
            <a:pPr algn="l">
              <a:lnSpc>
                <a:spcPts val="4031"/>
              </a:lnSpc>
              <a:defRPr/>
            </a:pPr>
            <a:r>
              <a:rPr lang="en-US" sz="2900" i="1">
                <a:solidFill>
                  <a:srgbClr val="000000"/>
                </a:solidFill>
                <a:latin typeface="DM Sans Italics"/>
                <a:ea typeface="DM Sans Italics"/>
                <a:cs typeface="DM Sans Italics"/>
              </a:rPr>
              <a:t>       - ≤0.5 =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AutoShape 2"/>
          <p:cNvSpPr/>
          <p:nvPr/>
        </p:nvSpPr>
        <p:spPr bwMode="auto">
          <a:xfrm>
            <a:off x="-886757" y="5074942"/>
            <a:ext cx="20061512" cy="0"/>
          </a:xfrm>
          <a:prstGeom prst="line">
            <a:avLst/>
          </a:prstGeom>
          <a:ln w="28575" cap="flat">
            <a:solidFill>
              <a:srgbClr val="000000"/>
            </a:solidFill>
            <a:prstDash val="solid"/>
            <a:headEnd type="none" w="sm" len="sm"/>
            <a:tailEnd type="none" w="sm" len="sm"/>
          </a:ln>
        </p:spPr>
      </p:sp>
      <p:grpSp>
        <p:nvGrpSpPr>
          <p:cNvPr id="3" name="Group 3"/>
          <p:cNvGrpSpPr/>
          <p:nvPr/>
        </p:nvGrpSpPr>
        <p:grpSpPr bwMode="auto">
          <a:xfrm rot="0">
            <a:off x="5930165" y="4823913"/>
            <a:ext cx="502056" cy="502056"/>
            <a:chOff x="0" y="0"/>
            <a:chExt cx="812800" cy="812800"/>
          </a:xfrm>
        </p:grpSpPr>
        <p:sp>
          <p:nvSpPr>
            <p:cNvPr id="4" name="Freeform 4"/>
            <p:cNvSpPr/>
            <p:nvPr/>
          </p:nvSpPr>
          <p:spPr bwMode="auto">
            <a:xfrm rot="0" flipH="0" flipV="0">
              <a:off x="0" y="0"/>
              <a:ext cx="812800" cy="812800"/>
            </a:xfrm>
            <a:custGeom>
              <a:avLst/>
              <a:gdLst/>
              <a:ahLst/>
              <a:cxnLst/>
              <a:rect l="l" t="t" r="r" b="b"/>
              <a:pathLst>
                <a:path w="812800" h="812800" fill="norm" stroke="1"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id="5" name="TextBox 5"/>
            <p:cNvSpPr txBox="1"/>
            <p:nvPr/>
          </p:nvSpPr>
          <p:spPr bwMode="auto">
            <a:xfrm>
              <a:off x="190500" y="219074"/>
              <a:ext cx="431799" cy="403225"/>
            </a:xfrm>
            <a:prstGeom prst="rect">
              <a:avLst/>
            </a:prstGeom>
            <a:grpFill/>
          </p:spPr>
          <p:txBody>
            <a:bodyPr lIns="50800" tIns="50800" rIns="50800" bIns="50800" rtlCol="0" anchor="ctr"/>
            <a:lstStyle/>
            <a:p>
              <a:pPr marL="0" lvl="0" indent="0" algn="ctr">
                <a:lnSpc>
                  <a:spcPts val="2266"/>
                </a:lnSpc>
                <a:spcBef>
                  <a:spcPts val="0"/>
                </a:spcBef>
                <a:defRPr/>
              </a:pPr>
              <a:endParaRPr/>
            </a:p>
          </p:txBody>
        </p:sp>
      </p:grpSp>
      <p:grpSp>
        <p:nvGrpSpPr>
          <p:cNvPr id="6" name="Group 6"/>
          <p:cNvGrpSpPr/>
          <p:nvPr/>
        </p:nvGrpSpPr>
        <p:grpSpPr bwMode="auto">
          <a:xfrm rot="0">
            <a:off x="2227066" y="4823913"/>
            <a:ext cx="502056" cy="502056"/>
            <a:chOff x="0" y="0"/>
            <a:chExt cx="812800" cy="812800"/>
          </a:xfrm>
        </p:grpSpPr>
        <p:sp>
          <p:nvSpPr>
            <p:cNvPr id="7" name="Freeform 7"/>
            <p:cNvSpPr/>
            <p:nvPr/>
          </p:nvSpPr>
          <p:spPr bwMode="auto">
            <a:xfrm rot="0" flipH="0" flipV="0">
              <a:off x="0" y="0"/>
              <a:ext cx="812800" cy="812800"/>
            </a:xfrm>
            <a:custGeom>
              <a:avLst/>
              <a:gdLst/>
              <a:ahLst/>
              <a:cxnLst/>
              <a:rect l="l" t="t" r="r" b="b"/>
              <a:pathLst>
                <a:path w="812800" h="812800" fill="norm" stroke="1"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8" name="TextBox 8"/>
            <p:cNvSpPr txBox="1"/>
            <p:nvPr/>
          </p:nvSpPr>
          <p:spPr bwMode="auto">
            <a:xfrm>
              <a:off x="190500" y="219074"/>
              <a:ext cx="431799" cy="403225"/>
            </a:xfrm>
            <a:prstGeom prst="rect">
              <a:avLst/>
            </a:prstGeom>
            <a:grpFill/>
          </p:spPr>
          <p:txBody>
            <a:bodyPr lIns="50800" tIns="50800" rIns="50800" bIns="50800" rtlCol="0" anchor="ctr"/>
            <a:lstStyle/>
            <a:p>
              <a:pPr algn="ctr">
                <a:lnSpc>
                  <a:spcPts val="2266"/>
                </a:lnSpc>
                <a:defRPr/>
              </a:pPr>
              <a:endParaRPr/>
            </a:p>
          </p:txBody>
        </p:sp>
      </p:grpSp>
      <p:grpSp>
        <p:nvGrpSpPr>
          <p:cNvPr id="9" name="Group 9"/>
          <p:cNvGrpSpPr/>
          <p:nvPr/>
        </p:nvGrpSpPr>
        <p:grpSpPr bwMode="auto">
          <a:xfrm rot="0">
            <a:off x="9653627" y="4823913"/>
            <a:ext cx="502056" cy="502056"/>
            <a:chOff x="0" y="0"/>
            <a:chExt cx="812800" cy="812800"/>
          </a:xfrm>
        </p:grpSpPr>
        <p:sp>
          <p:nvSpPr>
            <p:cNvPr id="10" name="Freeform 10"/>
            <p:cNvSpPr/>
            <p:nvPr/>
          </p:nvSpPr>
          <p:spPr bwMode="auto">
            <a:xfrm rot="0" flipH="0" flipV="0">
              <a:off x="0" y="0"/>
              <a:ext cx="812800" cy="812800"/>
            </a:xfrm>
            <a:custGeom>
              <a:avLst/>
              <a:gdLst/>
              <a:ahLst/>
              <a:cxnLst/>
              <a:rect l="l" t="t" r="r" b="b"/>
              <a:pathLst>
                <a:path w="812800" h="812800" fill="norm" stroke="1"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id="11" name="TextBox 11"/>
            <p:cNvSpPr txBox="1"/>
            <p:nvPr/>
          </p:nvSpPr>
          <p:spPr bwMode="auto">
            <a:xfrm>
              <a:off x="190500" y="219074"/>
              <a:ext cx="431799" cy="403225"/>
            </a:xfrm>
            <a:prstGeom prst="rect">
              <a:avLst/>
            </a:prstGeom>
            <a:grpFill/>
          </p:spPr>
          <p:txBody>
            <a:bodyPr lIns="50800" tIns="50800" rIns="50800" bIns="50800" rtlCol="0" anchor="ctr"/>
            <a:lstStyle/>
            <a:p>
              <a:pPr marL="0" lvl="0" indent="0" algn="ctr">
                <a:lnSpc>
                  <a:spcPts val="2266"/>
                </a:lnSpc>
                <a:spcBef>
                  <a:spcPts val="0"/>
                </a:spcBef>
                <a:defRPr/>
              </a:pPr>
              <a:endParaRPr/>
            </a:p>
          </p:txBody>
        </p:sp>
      </p:grpSp>
      <p:grpSp>
        <p:nvGrpSpPr>
          <p:cNvPr id="12" name="Group 12"/>
          <p:cNvGrpSpPr/>
          <p:nvPr/>
        </p:nvGrpSpPr>
        <p:grpSpPr bwMode="auto">
          <a:xfrm rot="0">
            <a:off x="13396139" y="4823913"/>
            <a:ext cx="502056" cy="502056"/>
            <a:chOff x="0" y="0"/>
            <a:chExt cx="812800" cy="812800"/>
          </a:xfrm>
        </p:grpSpPr>
        <p:sp>
          <p:nvSpPr>
            <p:cNvPr id="13" name="Freeform 13"/>
            <p:cNvSpPr/>
            <p:nvPr/>
          </p:nvSpPr>
          <p:spPr bwMode="auto">
            <a:xfrm rot="0" flipH="0" flipV="0">
              <a:off x="0" y="0"/>
              <a:ext cx="812800" cy="812800"/>
            </a:xfrm>
            <a:custGeom>
              <a:avLst/>
              <a:gdLst/>
              <a:ahLst/>
              <a:cxnLst/>
              <a:rect l="l" t="t" r="r" b="b"/>
              <a:pathLst>
                <a:path w="812800" h="812800" fill="norm" stroke="1"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id="14" name="TextBox 14"/>
            <p:cNvSpPr txBox="1"/>
            <p:nvPr/>
          </p:nvSpPr>
          <p:spPr bwMode="auto">
            <a:xfrm>
              <a:off x="190500" y="219074"/>
              <a:ext cx="431799" cy="403225"/>
            </a:xfrm>
            <a:prstGeom prst="rect">
              <a:avLst/>
            </a:prstGeom>
            <a:grpFill/>
          </p:spPr>
          <p:txBody>
            <a:bodyPr lIns="50800" tIns="50800" rIns="50800" bIns="50800" rtlCol="0" anchor="ctr"/>
            <a:lstStyle/>
            <a:p>
              <a:pPr marL="0" lvl="0" indent="0" algn="ctr">
                <a:lnSpc>
                  <a:spcPts val="2266"/>
                </a:lnSpc>
                <a:spcBef>
                  <a:spcPts val="0"/>
                </a:spcBef>
                <a:defRPr/>
              </a:pPr>
              <a:endParaRPr/>
            </a:p>
          </p:txBody>
        </p:sp>
      </p:grpSp>
      <p:sp>
        <p:nvSpPr>
          <p:cNvPr id="15" name="TextBox 15"/>
          <p:cNvSpPr txBox="1"/>
          <p:nvPr/>
        </p:nvSpPr>
        <p:spPr bwMode="auto">
          <a:xfrm rot="0">
            <a:off x="4686174" y="1219200"/>
            <a:ext cx="8822997" cy="1177290"/>
          </a:xfrm>
          <a:prstGeom prst="rect">
            <a:avLst/>
          </a:prstGeom>
        </p:spPr>
        <p:txBody>
          <a:bodyPr lIns="0" tIns="0" rIns="0" bIns="0" rtlCol="0" anchor="t">
            <a:spAutoFit/>
          </a:bodyPr>
          <a:lstStyle/>
          <a:p>
            <a:pPr marL="0" lvl="1" indent="0" algn="ctr">
              <a:lnSpc>
                <a:spcPts val="8730"/>
              </a:lnSpc>
              <a:spcBef>
                <a:spcPts val="0"/>
              </a:spcBef>
              <a:defRPr/>
            </a:pPr>
            <a:r>
              <a:rPr lang="en-US" sz="9000" b="1">
                <a:solidFill>
                  <a:srgbClr val="000000"/>
                </a:solidFill>
                <a:latin typeface="DM Sans Bold"/>
                <a:ea typeface="DM Sans Bold"/>
                <a:cs typeface="DM Sans Bold"/>
              </a:rPr>
              <a:t>Timeline</a:t>
            </a:r>
            <a:endParaRPr/>
          </a:p>
        </p:txBody>
      </p:sp>
      <p:sp>
        <p:nvSpPr>
          <p:cNvPr id="16" name="TextBox 16"/>
          <p:cNvSpPr txBox="1"/>
          <p:nvPr/>
        </p:nvSpPr>
        <p:spPr bwMode="auto">
          <a:xfrm rot="0">
            <a:off x="719810" y="6048477"/>
            <a:ext cx="4012692" cy="1353528"/>
          </a:xfrm>
          <a:prstGeom prst="rect">
            <a:avLst/>
          </a:prstGeom>
        </p:spPr>
        <p:txBody>
          <a:bodyPr lIns="0" tIns="0" rIns="0" bIns="0" rtlCol="0" anchor="t">
            <a:spAutoFit/>
          </a:bodyPr>
          <a:lstStyle/>
          <a:p>
            <a:pPr algn="l">
              <a:lnSpc>
                <a:spcPts val="3542"/>
              </a:lnSpc>
              <a:defRPr/>
            </a:pPr>
            <a:r>
              <a:rPr lang="en-US" sz="3450" b="1">
                <a:solidFill>
                  <a:srgbClr val="000000"/>
                </a:solidFill>
                <a:latin typeface="DM Sans Bold"/>
                <a:ea typeface="DM Sans Bold"/>
                <a:cs typeface="DM Sans Bold"/>
              </a:rPr>
              <a:t>01 </a:t>
            </a:r>
            <a:endParaRPr/>
          </a:p>
          <a:p>
            <a:pPr algn="l">
              <a:lnSpc>
                <a:spcPts val="3542"/>
              </a:lnSpc>
              <a:defRPr/>
            </a:pPr>
            <a:r>
              <a:rPr lang="en-US" sz="3450" b="1">
                <a:solidFill>
                  <a:srgbClr val="000000"/>
                </a:solidFill>
                <a:latin typeface="DM Sans Bold"/>
                <a:ea typeface="DM Sans Bold"/>
                <a:cs typeface="DM Sans Bold"/>
              </a:rPr>
              <a:t>Analysis and Requirements</a:t>
            </a:r>
            <a:endParaRPr/>
          </a:p>
        </p:txBody>
      </p:sp>
      <p:sp>
        <p:nvSpPr>
          <p:cNvPr id="17" name="TextBox 17"/>
          <p:cNvSpPr txBox="1"/>
          <p:nvPr/>
        </p:nvSpPr>
        <p:spPr bwMode="auto">
          <a:xfrm rot="0">
            <a:off x="4732501" y="6169288"/>
            <a:ext cx="4465815" cy="1457463"/>
          </a:xfrm>
          <a:prstGeom prst="rect">
            <a:avLst/>
          </a:prstGeom>
        </p:spPr>
        <p:txBody>
          <a:bodyPr lIns="0" tIns="0" rIns="0" bIns="0" rtlCol="0" anchor="t">
            <a:spAutoFit/>
          </a:bodyPr>
          <a:lstStyle/>
          <a:p>
            <a:pPr algn="l">
              <a:lnSpc>
                <a:spcPts val="3803"/>
              </a:lnSpc>
              <a:defRPr/>
            </a:pPr>
            <a:r>
              <a:rPr lang="en-US" sz="3700" b="1">
                <a:solidFill>
                  <a:srgbClr val="000000"/>
                </a:solidFill>
                <a:latin typeface="DM Sans Bold"/>
                <a:ea typeface="DM Sans Bold"/>
                <a:cs typeface="DM Sans Bold"/>
              </a:rPr>
              <a:t>02 Dataset generation and normalization </a:t>
            </a:r>
            <a:endParaRPr/>
          </a:p>
        </p:txBody>
      </p:sp>
      <p:sp>
        <p:nvSpPr>
          <p:cNvPr id="18" name="TextBox 18"/>
          <p:cNvSpPr txBox="1"/>
          <p:nvPr/>
        </p:nvSpPr>
        <p:spPr bwMode="auto">
          <a:xfrm rot="0">
            <a:off x="9044314" y="5822876"/>
            <a:ext cx="3641900" cy="1804729"/>
          </a:xfrm>
          <a:prstGeom prst="rect">
            <a:avLst/>
          </a:prstGeom>
        </p:spPr>
        <p:txBody>
          <a:bodyPr lIns="0" tIns="0" rIns="0" bIns="0" rtlCol="0" anchor="t">
            <a:spAutoFit/>
          </a:bodyPr>
          <a:lstStyle/>
          <a:p>
            <a:pPr algn="l">
              <a:lnSpc>
                <a:spcPts val="3555"/>
              </a:lnSpc>
              <a:defRPr/>
            </a:pPr>
            <a:r>
              <a:rPr lang="en-US" sz="3450" b="1">
                <a:solidFill>
                  <a:srgbClr val="000000"/>
                </a:solidFill>
                <a:latin typeface="DM Sans Bold"/>
                <a:ea typeface="DM Sans Bold"/>
                <a:cs typeface="DM Sans Bold"/>
              </a:rPr>
              <a:t>03 Reporting,</a:t>
            </a:r>
            <a:endParaRPr/>
          </a:p>
          <a:p>
            <a:pPr algn="l">
              <a:lnSpc>
                <a:spcPts val="3555"/>
              </a:lnSpc>
              <a:defRPr/>
            </a:pPr>
            <a:r>
              <a:rPr lang="en-US" sz="3450" b="1">
                <a:solidFill>
                  <a:srgbClr val="000000"/>
                </a:solidFill>
                <a:latin typeface="DM Sans Bold"/>
                <a:ea typeface="DM Sans Bold"/>
                <a:cs typeface="DM Sans Bold"/>
              </a:rPr>
              <a:t>conformity analysis and plotting graphs</a:t>
            </a:r>
            <a:endParaRPr/>
          </a:p>
        </p:txBody>
      </p:sp>
      <p:sp>
        <p:nvSpPr>
          <p:cNvPr id="19" name="TextBox 19"/>
          <p:cNvSpPr txBox="1"/>
          <p:nvPr/>
        </p:nvSpPr>
        <p:spPr bwMode="auto">
          <a:xfrm rot="0">
            <a:off x="13898195" y="5926062"/>
            <a:ext cx="3570267" cy="1365683"/>
          </a:xfrm>
          <a:prstGeom prst="rect">
            <a:avLst/>
          </a:prstGeom>
        </p:spPr>
        <p:txBody>
          <a:bodyPr lIns="0" tIns="0" rIns="0" bIns="0" rtlCol="0" anchor="t">
            <a:spAutoFit/>
          </a:bodyPr>
          <a:lstStyle/>
          <a:p>
            <a:pPr algn="l">
              <a:lnSpc>
                <a:spcPts val="3572"/>
              </a:lnSpc>
              <a:defRPr/>
            </a:pPr>
            <a:r>
              <a:rPr lang="en-US" sz="3450" b="1">
                <a:solidFill>
                  <a:srgbClr val="000000"/>
                </a:solidFill>
                <a:latin typeface="DM Sans Bold"/>
                <a:ea typeface="DM Sans Bold"/>
                <a:cs typeface="DM Sans Bold"/>
              </a:rPr>
              <a:t>04 Log analysis reanalysing the data</a:t>
            </a:r>
            <a:endParaRPr/>
          </a:p>
        </p:txBody>
      </p:sp>
      <p:sp>
        <p:nvSpPr>
          <p:cNvPr id="20" name="Freeform 20"/>
          <p:cNvSpPr/>
          <p:nvPr/>
        </p:nvSpPr>
        <p:spPr bwMode="auto">
          <a:xfrm rot="0" flipH="0" flipV="0">
            <a:off x="-1573240" y="8893298"/>
            <a:ext cx="4051334" cy="2765036"/>
          </a:xfrm>
          <a:custGeom>
            <a:avLst/>
            <a:gdLst/>
            <a:ahLst/>
            <a:cxnLst/>
            <a:rect l="l" t="t" r="r" b="b"/>
            <a:pathLst>
              <a:path w="4051334" h="2765036" fill="norm" stroke="1" extrusionOk="0">
                <a:moveTo>
                  <a:pt x="0" y="0"/>
                </a:moveTo>
                <a:lnTo>
                  <a:pt x="4051334" y="0"/>
                </a:lnTo>
                <a:lnTo>
                  <a:pt x="4051334" y="2765036"/>
                </a:lnTo>
                <a:lnTo>
                  <a:pt x="0" y="2765036"/>
                </a:lnTo>
                <a:lnTo>
                  <a:pt x="0" y="0"/>
                </a:lnTo>
                <a:close/>
              </a:path>
            </a:pathLst>
          </a:custGeom>
          <a:blipFill>
            <a:blip r:embed="rId3"/>
            <a:srcRect l="0" t="0" r="0" b="0"/>
            <a:stretch/>
          </a:blipFill>
        </p:spPr>
      </p:sp>
      <p:sp>
        <p:nvSpPr>
          <p:cNvPr id="21" name="Freeform 21"/>
          <p:cNvSpPr/>
          <p:nvPr/>
        </p:nvSpPr>
        <p:spPr bwMode="auto">
          <a:xfrm rot="0" flipH="0" flipV="0">
            <a:off x="15262955" y="8864586"/>
            <a:ext cx="4602314" cy="3618569"/>
          </a:xfrm>
          <a:custGeom>
            <a:avLst/>
            <a:gdLst/>
            <a:ahLst/>
            <a:cxnLst/>
            <a:rect l="l" t="t" r="r" b="b"/>
            <a:pathLst>
              <a:path w="4602314" h="3618569" fill="norm" stroke="1" extrusionOk="0">
                <a:moveTo>
                  <a:pt x="0" y="0"/>
                </a:moveTo>
                <a:lnTo>
                  <a:pt x="4602314" y="0"/>
                </a:lnTo>
                <a:lnTo>
                  <a:pt x="4602314" y="3618569"/>
                </a:lnTo>
                <a:lnTo>
                  <a:pt x="0" y="3618569"/>
                </a:lnTo>
                <a:lnTo>
                  <a:pt x="0" y="0"/>
                </a:lnTo>
                <a:close/>
              </a:path>
            </a:pathLst>
          </a:custGeom>
          <a:blipFill>
            <a:blip r:embed="rId4"/>
            <a:srcRect l="0" t="0" r="0" b="0"/>
            <a:stretch/>
          </a:blipFill>
          <a:ln cap="sq">
            <a:noFill/>
            <a:prstDash val="solid"/>
            <a:miter/>
          </a:ln>
        </p:spPr>
      </p:sp>
      <p:sp>
        <p:nvSpPr>
          <p:cNvPr id="22" name="Freeform 22"/>
          <p:cNvSpPr/>
          <p:nvPr/>
        </p:nvSpPr>
        <p:spPr bwMode="auto">
          <a:xfrm rot="0" flipH="0" flipV="0">
            <a:off x="-674156" y="-1322787"/>
            <a:ext cx="4224468" cy="2645573"/>
          </a:xfrm>
          <a:custGeom>
            <a:avLst/>
            <a:gdLst/>
            <a:ahLst/>
            <a:cxnLst/>
            <a:rect l="l" t="t" r="r" b="b"/>
            <a:pathLst>
              <a:path w="4224468" h="2645573" fill="norm" stroke="1" extrusionOk="0">
                <a:moveTo>
                  <a:pt x="0" y="0"/>
                </a:moveTo>
                <a:lnTo>
                  <a:pt x="4224468" y="0"/>
                </a:lnTo>
                <a:lnTo>
                  <a:pt x="4224468" y="2645574"/>
                </a:lnTo>
                <a:lnTo>
                  <a:pt x="0" y="2645574"/>
                </a:lnTo>
                <a:lnTo>
                  <a:pt x="0" y="0"/>
                </a:lnTo>
                <a:close/>
              </a:path>
            </a:pathLst>
          </a:custGeom>
          <a:blipFill>
            <a:blip r:embed="rId5"/>
            <a:srcRect l="0" t="0" r="0" b="0"/>
            <a:stretch/>
          </a:blipFill>
          <a:ln cap="sq">
            <a:noFill/>
            <a:prstDash val="solid"/>
            <a:miter/>
          </a:ln>
        </p:spPr>
      </p:sp>
      <p:sp>
        <p:nvSpPr>
          <p:cNvPr id="23" name="Freeform 23"/>
          <p:cNvSpPr/>
          <p:nvPr/>
        </p:nvSpPr>
        <p:spPr bwMode="auto">
          <a:xfrm rot="0" flipH="0" flipV="0">
            <a:off x="11101574" y="9560661"/>
            <a:ext cx="3169280" cy="2226419"/>
          </a:xfrm>
          <a:custGeom>
            <a:avLst/>
            <a:gdLst/>
            <a:ahLst/>
            <a:cxnLst/>
            <a:rect l="l" t="t" r="r" b="b"/>
            <a:pathLst>
              <a:path w="3169280" h="2226419" fill="norm" stroke="1" extrusionOk="0">
                <a:moveTo>
                  <a:pt x="0" y="0"/>
                </a:moveTo>
                <a:lnTo>
                  <a:pt x="3169280" y="0"/>
                </a:lnTo>
                <a:lnTo>
                  <a:pt x="3169280" y="2226419"/>
                </a:lnTo>
                <a:lnTo>
                  <a:pt x="0" y="2226419"/>
                </a:lnTo>
                <a:lnTo>
                  <a:pt x="0" y="0"/>
                </a:lnTo>
                <a:close/>
              </a:path>
            </a:pathLst>
          </a:custGeom>
          <a:blipFill>
            <a:blip r:embed="rId6"/>
            <a:srcRect l="0" t="0" r="0" b="0"/>
            <a:stretch/>
          </a:blipFill>
          <a:ln cap="sq">
            <a:noFill/>
            <a:prstDash val="solid"/>
            <a:miter/>
          </a:ln>
        </p:spPr>
      </p:sp>
      <p:sp>
        <p:nvSpPr>
          <p:cNvPr id="24" name="Freeform 24"/>
          <p:cNvSpPr/>
          <p:nvPr/>
        </p:nvSpPr>
        <p:spPr bwMode="auto">
          <a:xfrm rot="0" flipH="0" flipV="0">
            <a:off x="9653627" y="-3037933"/>
            <a:ext cx="5493058" cy="4114800"/>
          </a:xfrm>
          <a:custGeom>
            <a:avLst/>
            <a:gdLst/>
            <a:ahLst/>
            <a:cxnLst/>
            <a:rect l="l" t="t" r="r" b="b"/>
            <a:pathLst>
              <a:path w="5493058" h="4114800" fill="norm" stroke="1" extrusionOk="0">
                <a:moveTo>
                  <a:pt x="0" y="0"/>
                </a:moveTo>
                <a:lnTo>
                  <a:pt x="5493058" y="0"/>
                </a:lnTo>
                <a:lnTo>
                  <a:pt x="5493058" y="4114800"/>
                </a:lnTo>
                <a:lnTo>
                  <a:pt x="0" y="4114800"/>
                </a:lnTo>
                <a:lnTo>
                  <a:pt x="0" y="0"/>
                </a:lnTo>
                <a:close/>
              </a:path>
            </a:pathLst>
          </a:custGeom>
          <a:blipFill>
            <a:blip r:embed="rId7"/>
            <a:srcRect l="0" t="0" r="0" b="0"/>
            <a:stretch/>
          </a:blipFill>
          <a:ln cap="sq">
            <a:noFill/>
            <a:prstDash val="solid"/>
            <a:miter/>
          </a:ln>
        </p:spPr>
      </p:sp>
      <p:sp>
        <p:nvSpPr>
          <p:cNvPr id="25" name="Freeform 25"/>
          <p:cNvSpPr/>
          <p:nvPr/>
        </p:nvSpPr>
        <p:spPr bwMode="auto">
          <a:xfrm rot="-5400000" flipH="0" flipV="0">
            <a:off x="4745771" y="-1877331"/>
            <a:ext cx="2892762" cy="2919301"/>
          </a:xfrm>
          <a:custGeom>
            <a:avLst/>
            <a:gdLst/>
            <a:ahLst/>
            <a:cxnLst/>
            <a:rect l="l" t="t" r="r" b="b"/>
            <a:pathLst>
              <a:path w="2892762" h="2919301" fill="norm" stroke="1" extrusionOk="0">
                <a:moveTo>
                  <a:pt x="0" y="0"/>
                </a:moveTo>
                <a:lnTo>
                  <a:pt x="2892761" y="0"/>
                </a:lnTo>
                <a:lnTo>
                  <a:pt x="2892761" y="2919301"/>
                </a:lnTo>
                <a:lnTo>
                  <a:pt x="0" y="2919301"/>
                </a:lnTo>
                <a:lnTo>
                  <a:pt x="0" y="0"/>
                </a:lnTo>
                <a:close/>
              </a:path>
            </a:pathLst>
          </a:custGeom>
          <a:blipFill>
            <a:blip r:embed="rId8"/>
            <a:srcRect l="0" t="0" r="0" b="0"/>
            <a:stretch/>
          </a:blipFill>
          <a:ln cap="sq">
            <a:noFill/>
            <a:prstDash val="solid"/>
            <a:miter/>
          </a:ln>
        </p:spPr>
      </p:sp>
      <p:sp>
        <p:nvSpPr>
          <p:cNvPr id="26" name="Freeform 26"/>
          <p:cNvSpPr/>
          <p:nvPr/>
        </p:nvSpPr>
        <p:spPr bwMode="auto">
          <a:xfrm rot="0" flipH="0" flipV="0">
            <a:off x="2932282" y="9271808"/>
            <a:ext cx="2587020" cy="2386526"/>
          </a:xfrm>
          <a:custGeom>
            <a:avLst/>
            <a:gdLst/>
            <a:ahLst/>
            <a:cxnLst/>
            <a:rect l="l" t="t" r="r" b="b"/>
            <a:pathLst>
              <a:path w="2587020" h="2386526" fill="norm" stroke="1" extrusionOk="0">
                <a:moveTo>
                  <a:pt x="0" y="0"/>
                </a:moveTo>
                <a:lnTo>
                  <a:pt x="2587020" y="0"/>
                </a:lnTo>
                <a:lnTo>
                  <a:pt x="2587020" y="2386526"/>
                </a:lnTo>
                <a:lnTo>
                  <a:pt x="0" y="2386526"/>
                </a:lnTo>
                <a:lnTo>
                  <a:pt x="0" y="0"/>
                </a:lnTo>
                <a:close/>
              </a:path>
            </a:pathLst>
          </a:custGeom>
          <a:blipFill>
            <a:blip r:embed="rId9"/>
            <a:srcRect l="0" t="0" r="0" b="0"/>
            <a:stretch/>
          </a:blipFill>
          <a:ln cap="sq">
            <a:noFill/>
            <a:prstDash val="solid"/>
            <a:miter/>
          </a:ln>
        </p:spPr>
      </p:sp>
      <p:sp>
        <p:nvSpPr>
          <p:cNvPr id="27" name="Freeform 27"/>
          <p:cNvSpPr/>
          <p:nvPr/>
        </p:nvSpPr>
        <p:spPr bwMode="auto">
          <a:xfrm rot="0" flipH="0" flipV="0">
            <a:off x="15262955" y="-1072630"/>
            <a:ext cx="1996345" cy="2149497"/>
          </a:xfrm>
          <a:custGeom>
            <a:avLst/>
            <a:gdLst/>
            <a:ahLst/>
            <a:cxnLst/>
            <a:rect l="l" t="t" r="r" b="b"/>
            <a:pathLst>
              <a:path w="1996345" h="2149497" fill="norm" stroke="1" extrusionOk="0">
                <a:moveTo>
                  <a:pt x="0" y="0"/>
                </a:moveTo>
                <a:lnTo>
                  <a:pt x="1996345" y="0"/>
                </a:lnTo>
                <a:lnTo>
                  <a:pt x="1996345" y="2149497"/>
                </a:lnTo>
                <a:lnTo>
                  <a:pt x="0" y="2149497"/>
                </a:lnTo>
                <a:lnTo>
                  <a:pt x="0" y="0"/>
                </a:lnTo>
                <a:close/>
              </a:path>
            </a:pathLst>
          </a:custGeom>
          <a:blipFill>
            <a:blip r:embed="rId10"/>
            <a:srcRect l="0" t="0" r="0" b="0"/>
            <a:stretch/>
          </a:blipFill>
          <a:ln cap="sq">
            <a:noFill/>
            <a:prstDash val="solid"/>
            <a:miter/>
          </a:ln>
        </p:spPr>
      </p:sp>
      <p:sp>
        <p:nvSpPr>
          <p:cNvPr id="28" name="TextBox 28"/>
          <p:cNvSpPr txBox="1"/>
          <p:nvPr/>
        </p:nvSpPr>
        <p:spPr bwMode="auto">
          <a:xfrm rot="0">
            <a:off x="1028700" y="7513306"/>
            <a:ext cx="2003901" cy="1060365"/>
          </a:xfrm>
          <a:prstGeom prst="rect">
            <a:avLst/>
          </a:prstGeom>
        </p:spPr>
        <p:txBody>
          <a:bodyPr lIns="0" tIns="0" rIns="0" bIns="0" rtlCol="0" anchor="t">
            <a:spAutoFit/>
          </a:bodyPr>
          <a:lstStyle/>
          <a:p>
            <a:pPr algn="ctr">
              <a:lnSpc>
                <a:spcPts val="8754"/>
              </a:lnSpc>
              <a:spcBef>
                <a:spcPts val="0"/>
              </a:spcBef>
              <a:defRPr/>
            </a:pPr>
            <a:r>
              <a:rPr lang="en-US" sz="6250" b="1">
                <a:solidFill>
                  <a:srgbClr val="0097B2"/>
                </a:solidFill>
                <a:latin typeface="DM Sans Bold"/>
                <a:ea typeface="DM Sans Bold"/>
                <a:cs typeface="DM Sans Bold"/>
              </a:rPr>
              <a:t>Done</a:t>
            </a:r>
            <a:endParaRPr/>
          </a:p>
        </p:txBody>
      </p:sp>
      <p:sp>
        <p:nvSpPr>
          <p:cNvPr id="29" name="TextBox 29"/>
          <p:cNvSpPr txBox="1"/>
          <p:nvPr/>
        </p:nvSpPr>
        <p:spPr bwMode="auto">
          <a:xfrm rot="0">
            <a:off x="4928215" y="7513306"/>
            <a:ext cx="2003901" cy="1060365"/>
          </a:xfrm>
          <a:prstGeom prst="rect">
            <a:avLst/>
          </a:prstGeom>
        </p:spPr>
        <p:txBody>
          <a:bodyPr lIns="0" tIns="0" rIns="0" bIns="0" rtlCol="0" anchor="t">
            <a:spAutoFit/>
          </a:bodyPr>
          <a:lstStyle/>
          <a:p>
            <a:pPr algn="ctr">
              <a:lnSpc>
                <a:spcPts val="8754"/>
              </a:lnSpc>
              <a:spcBef>
                <a:spcPts val="0"/>
              </a:spcBef>
              <a:defRPr/>
            </a:pPr>
            <a:r>
              <a:rPr lang="en-US" sz="6250" b="1">
                <a:solidFill>
                  <a:srgbClr val="0097B2"/>
                </a:solidFill>
                <a:latin typeface="DM Sans Bold"/>
                <a:ea typeface="DM Sans Bold"/>
                <a:cs typeface="DM Sans Bold"/>
              </a:rPr>
              <a:t>Done</a:t>
            </a:r>
            <a:endParaRPr/>
          </a:p>
        </p:txBody>
      </p:sp>
      <p:sp>
        <p:nvSpPr>
          <p:cNvPr id="30" name="TextBox 30"/>
          <p:cNvSpPr txBox="1"/>
          <p:nvPr/>
        </p:nvSpPr>
        <p:spPr bwMode="auto">
          <a:xfrm rot="0">
            <a:off x="9097673" y="7622784"/>
            <a:ext cx="2003901" cy="1060365"/>
          </a:xfrm>
          <a:prstGeom prst="rect">
            <a:avLst/>
          </a:prstGeom>
        </p:spPr>
        <p:txBody>
          <a:bodyPr lIns="0" tIns="0" rIns="0" bIns="0" rtlCol="0" anchor="t">
            <a:spAutoFit/>
          </a:bodyPr>
          <a:lstStyle/>
          <a:p>
            <a:pPr algn="ctr">
              <a:lnSpc>
                <a:spcPts val="8754"/>
              </a:lnSpc>
              <a:spcBef>
                <a:spcPts val="0"/>
              </a:spcBef>
              <a:defRPr/>
            </a:pPr>
            <a:r>
              <a:rPr lang="en-US" sz="6250" b="1">
                <a:solidFill>
                  <a:srgbClr val="0097B2"/>
                </a:solidFill>
                <a:latin typeface="DM Sans Bold"/>
                <a:ea typeface="DM Sans Bold"/>
                <a:cs typeface="DM Sans Bold"/>
              </a:rPr>
              <a:t>Done</a:t>
            </a:r>
            <a:endParaRPr/>
          </a:p>
        </p:txBody>
      </p:sp>
      <p:sp>
        <p:nvSpPr>
          <p:cNvPr id="31" name="TextBox 31"/>
          <p:cNvSpPr txBox="1"/>
          <p:nvPr/>
        </p:nvSpPr>
        <p:spPr bwMode="auto">
          <a:xfrm rot="0">
            <a:off x="13272392" y="7748944"/>
            <a:ext cx="4823312" cy="830178"/>
          </a:xfrm>
          <a:prstGeom prst="rect">
            <a:avLst/>
          </a:prstGeom>
        </p:spPr>
        <p:txBody>
          <a:bodyPr lIns="0" tIns="0" rIns="0" bIns="0" rtlCol="0" anchor="t">
            <a:spAutoFit/>
          </a:bodyPr>
          <a:lstStyle/>
          <a:p>
            <a:pPr algn="ctr">
              <a:lnSpc>
                <a:spcPts val="6534"/>
              </a:lnSpc>
              <a:spcBef>
                <a:spcPts val="0"/>
              </a:spcBef>
              <a:defRPr/>
            </a:pPr>
            <a:r>
              <a:rPr lang="en-US" sz="4650" b="1">
                <a:solidFill>
                  <a:srgbClr val="FF3131"/>
                </a:solidFill>
                <a:latin typeface="DM Sans Bold"/>
                <a:ea typeface="DM Sans Bold"/>
                <a:cs typeface="DM Sans Bold"/>
              </a:rPr>
              <a:t>Done</a:t>
            </a:r>
            <a:endParaRPr/>
          </a:p>
        </p:txBody>
      </p:sp>
      <p:sp>
        <p:nvSpPr>
          <p:cNvPr id="32" name="TextBox 32"/>
          <p:cNvSpPr txBox="1"/>
          <p:nvPr/>
        </p:nvSpPr>
        <p:spPr bwMode="auto">
          <a:xfrm rot="0">
            <a:off x="1438078" y="2986194"/>
            <a:ext cx="16126034" cy="784476"/>
          </a:xfrm>
          <a:prstGeom prst="rect">
            <a:avLst/>
          </a:prstGeom>
        </p:spPr>
        <p:txBody>
          <a:bodyPr lIns="0" tIns="0" rIns="0" bIns="0" rtlCol="0" anchor="t">
            <a:spAutoFit/>
          </a:bodyPr>
          <a:lstStyle/>
          <a:p>
            <a:pPr algn="ctr">
              <a:lnSpc>
                <a:spcPts val="6466"/>
              </a:lnSpc>
              <a:spcBef>
                <a:spcPts val="0"/>
              </a:spcBef>
              <a:defRPr/>
            </a:pPr>
            <a:r>
              <a:rPr lang="en-US" sz="4600" b="1">
                <a:solidFill>
                  <a:srgbClr val="000000"/>
                </a:solidFill>
                <a:latin typeface="DM Sans Bold"/>
                <a:ea typeface="DM Sans Bold"/>
                <a:cs typeface="DM Sans Bold"/>
              </a:rPr>
              <a:t>We are using conformal neural network for this project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0" y="1175598"/>
            <a:ext cx="7337199" cy="4891466"/>
          </a:xfrm>
          <a:custGeom>
            <a:avLst/>
            <a:gdLst/>
            <a:ahLst/>
            <a:cxnLst/>
            <a:rect l="l" t="t" r="r" b="b"/>
            <a:pathLst>
              <a:path w="7337199" h="4891466" fill="norm" stroke="1" extrusionOk="0">
                <a:moveTo>
                  <a:pt x="0" y="0"/>
                </a:moveTo>
                <a:lnTo>
                  <a:pt x="7337199" y="0"/>
                </a:lnTo>
                <a:lnTo>
                  <a:pt x="7337199" y="4891465"/>
                </a:lnTo>
                <a:lnTo>
                  <a:pt x="0" y="4891465"/>
                </a:lnTo>
                <a:lnTo>
                  <a:pt x="0" y="0"/>
                </a:lnTo>
                <a:close/>
              </a:path>
            </a:pathLst>
          </a:custGeom>
          <a:blipFill>
            <a:blip r:embed="rId3"/>
            <a:srcRect l="0" t="0" r="0" b="0"/>
            <a:stretch/>
          </a:blipFill>
        </p:spPr>
      </p:sp>
      <p:sp>
        <p:nvSpPr>
          <p:cNvPr id="3" name="TextBox 3"/>
          <p:cNvSpPr txBox="1"/>
          <p:nvPr/>
        </p:nvSpPr>
        <p:spPr bwMode="auto">
          <a:xfrm rot="0">
            <a:off x="8099285" y="434319"/>
            <a:ext cx="9297580" cy="1293537"/>
          </a:xfrm>
          <a:prstGeom prst="rect">
            <a:avLst/>
          </a:prstGeom>
        </p:spPr>
        <p:txBody>
          <a:bodyPr lIns="0" tIns="0" rIns="0" bIns="0" rtlCol="0" anchor="t">
            <a:spAutoFit/>
          </a:bodyPr>
          <a:lstStyle/>
          <a:p>
            <a:pPr algn="l">
              <a:lnSpc>
                <a:spcPts val="4936"/>
              </a:lnSpc>
              <a:defRPr/>
            </a:pPr>
            <a:r>
              <a:rPr lang="en-US" sz="5100" b="1">
                <a:solidFill>
                  <a:srgbClr val="000000"/>
                </a:solidFill>
                <a:latin typeface="DM Sans Bold"/>
                <a:ea typeface="DM Sans Bold"/>
                <a:cs typeface="DM Sans Bold"/>
              </a:rPr>
              <a:t>Conclusion</a:t>
            </a:r>
            <a:endParaRPr/>
          </a:p>
          <a:p>
            <a:pPr algn="l">
              <a:lnSpc>
                <a:spcPts val="4936"/>
              </a:lnSpc>
              <a:defRPr/>
            </a:pPr>
            <a:endParaRPr/>
          </a:p>
        </p:txBody>
      </p:sp>
      <p:sp>
        <p:nvSpPr>
          <p:cNvPr id="4" name="TextBox 4"/>
          <p:cNvSpPr txBox="1"/>
          <p:nvPr/>
        </p:nvSpPr>
        <p:spPr bwMode="auto">
          <a:xfrm rot="0">
            <a:off x="8099285" y="1137498"/>
            <a:ext cx="9436063" cy="8074968"/>
          </a:xfrm>
          <a:prstGeom prst="rect">
            <a:avLst/>
          </a:prstGeom>
        </p:spPr>
        <p:txBody>
          <a:bodyPr lIns="0" tIns="0" rIns="0" bIns="0" rtlCol="0" anchor="t">
            <a:spAutoFit/>
          </a:bodyPr>
          <a:lstStyle/>
          <a:p>
            <a:pPr algn="l">
              <a:lnSpc>
                <a:spcPts val="3533"/>
              </a:lnSpc>
              <a:defRPr/>
            </a:pPr>
            <a:r>
              <a:rPr lang="en-US" sz="2600" spc="156">
                <a:solidFill>
                  <a:srgbClr val="000000"/>
                </a:solidFill>
                <a:latin typeface="DM Sans"/>
                <a:ea typeface="DM Sans"/>
                <a:cs typeface="DM Sans"/>
              </a:rPr>
              <a:t>The increasing reliance on smart grids brings both efficiency and vulnerability. This study demonstrates how False Data Injection (FDI) attacks can manipulate power system data, leading to potential instability and financial losses. By simulating FDI attacks on key electrical parameters like voltage, power, and frequency, we highlight the importance of robust intrusion detection systems (IDS) and machine learning-based anomaly detection.</a:t>
            </a:r>
            <a:endParaRPr/>
          </a:p>
          <a:p>
            <a:pPr algn="l">
              <a:lnSpc>
                <a:spcPts val="3533"/>
              </a:lnSpc>
              <a:defRPr/>
            </a:pPr>
            <a:r>
              <a:rPr lang="en-US" sz="2600" spc="156">
                <a:solidFill>
                  <a:srgbClr val="000000"/>
                </a:solidFill>
                <a:latin typeface="DM Sans"/>
                <a:ea typeface="DM Sans"/>
                <a:cs typeface="DM Sans"/>
              </a:rPr>
              <a:t>To ensure the security and resilience of smart grids, it is essential to:</a:t>
            </a:r>
            <a:endParaRPr/>
          </a:p>
          <a:p>
            <a:pPr marL="565047" lvl="1" indent="-282524" algn="l">
              <a:lnSpc>
                <a:spcPts val="3533"/>
              </a:lnSpc>
              <a:buFont typeface="Arial"/>
              <a:buChar char="•"/>
              <a:defRPr/>
            </a:pPr>
            <a:r>
              <a:rPr lang="en-US" sz="2600" spc="156">
                <a:solidFill>
                  <a:srgbClr val="000000"/>
                </a:solidFill>
                <a:latin typeface="DM Sans"/>
                <a:ea typeface="DM Sans"/>
                <a:cs typeface="DM Sans"/>
              </a:rPr>
              <a:t>  Implement real-time monitoring with AI-driven anomaly detection.</a:t>
            </a:r>
            <a:endParaRPr/>
          </a:p>
          <a:p>
            <a:pPr marL="565047" lvl="1" indent="-282524" algn="l">
              <a:lnSpc>
                <a:spcPts val="3533"/>
              </a:lnSpc>
              <a:buFont typeface="Arial"/>
              <a:buChar char="•"/>
              <a:defRPr/>
            </a:pPr>
            <a:r>
              <a:rPr lang="en-US" sz="2600" spc="156">
                <a:solidFill>
                  <a:srgbClr val="000000"/>
                </a:solidFill>
                <a:latin typeface="DM Sans"/>
                <a:ea typeface="DM Sans"/>
                <a:cs typeface="DM Sans"/>
              </a:rPr>
              <a:t>  Enhance cybersecurity protocols to prevent unauthorized data manipulation.</a:t>
            </a:r>
            <a:endParaRPr/>
          </a:p>
          <a:p>
            <a:pPr marL="565047" lvl="1" indent="-282524" algn="l">
              <a:lnSpc>
                <a:spcPts val="3533"/>
              </a:lnSpc>
              <a:buFont typeface="Arial"/>
              <a:buChar char="•"/>
              <a:defRPr/>
            </a:pPr>
            <a:r>
              <a:rPr lang="en-US" sz="2600" spc="156">
                <a:solidFill>
                  <a:srgbClr val="000000"/>
                </a:solidFill>
                <a:latin typeface="DM Sans"/>
                <a:ea typeface="DM Sans"/>
                <a:cs typeface="DM Sans"/>
              </a:rPr>
              <a:t>  Continuously analyze and update grid security measures against evolving threats.</a:t>
            </a:r>
            <a:endParaRPr/>
          </a:p>
          <a:p>
            <a:pPr marL="0" lvl="0" indent="0" algn="l">
              <a:lnSpc>
                <a:spcPts val="3533"/>
              </a:lnSpc>
              <a:spcBef>
                <a:spcPts val="0"/>
              </a:spcBef>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15353489"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3"/>
            <a:srcRect l="0" t="0" r="0" b="0"/>
            <a:stretch/>
          </a:blipFill>
          <a:ln cap="sq">
            <a:noFill/>
            <a:prstDash val="solid"/>
            <a:miter/>
          </a:ln>
        </p:spPr>
      </p:sp>
      <p:sp>
        <p:nvSpPr>
          <p:cNvPr id="3" name="Freeform 3"/>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4"/>
            <a:srcRect l="0" t="0" r="0" b="0"/>
            <a:stretch/>
          </a:blipFill>
          <a:ln cap="sq">
            <a:noFill/>
            <a:prstDash val="solid"/>
            <a:miter/>
          </a:ln>
        </p:spPr>
      </p:sp>
      <p:sp>
        <p:nvSpPr>
          <p:cNvPr id="4" name="Freeform 4"/>
          <p:cNvSpPr/>
          <p:nvPr/>
        </p:nvSpPr>
        <p:spPr bwMode="auto">
          <a:xfrm rot="0" flipH="0" flipV="0">
            <a:off x="9144000"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5003948" y="-1890601"/>
            <a:ext cx="2892762" cy="2919301"/>
          </a:xfrm>
          <a:custGeom>
            <a:avLst/>
            <a:gdLst/>
            <a:ahLst/>
            <a:cxnLst/>
            <a:rect l="l" t="t" r="r" b="b"/>
            <a:pathLst>
              <a:path w="2892762" h="2919301" fill="norm" stroke="1" extrusionOk="0">
                <a:moveTo>
                  <a:pt x="0" y="0"/>
                </a:moveTo>
                <a:lnTo>
                  <a:pt x="2892762" y="0"/>
                </a:lnTo>
                <a:lnTo>
                  <a:pt x="2892762" y="2919301"/>
                </a:lnTo>
                <a:lnTo>
                  <a:pt x="0" y="2919301"/>
                </a:lnTo>
                <a:lnTo>
                  <a:pt x="0" y="0"/>
                </a:lnTo>
                <a:close/>
              </a:path>
            </a:pathLst>
          </a:custGeom>
          <a:blipFill>
            <a:blip r:embed="rId6"/>
            <a:srcRect l="0" t="0" r="0" b="0"/>
            <a:stretch/>
          </a:blipFill>
          <a:ln cap="sq">
            <a:noFill/>
            <a:prstDash val="solid"/>
            <a:miter/>
          </a:ln>
        </p:spPr>
      </p:sp>
      <p:sp>
        <p:nvSpPr>
          <p:cNvPr id="6" name="Freeform 6"/>
          <p:cNvSpPr/>
          <p:nvPr/>
        </p:nvSpPr>
        <p:spPr bwMode="auto">
          <a:xfrm rot="-5282649" flipH="0" flipV="0">
            <a:off x="16004285" y="265374"/>
            <a:ext cx="4017207" cy="1370872"/>
          </a:xfrm>
          <a:custGeom>
            <a:avLst/>
            <a:gdLst/>
            <a:ahLst/>
            <a:cxnLst/>
            <a:rect l="l" t="t" r="r" b="b"/>
            <a:pathLst>
              <a:path w="4017207" h="1370872" fill="norm" stroke="1" extrusionOk="0">
                <a:moveTo>
                  <a:pt x="0" y="0"/>
                </a:moveTo>
                <a:lnTo>
                  <a:pt x="4017207" y="0"/>
                </a:lnTo>
                <a:lnTo>
                  <a:pt x="4017207" y="1370872"/>
                </a:lnTo>
                <a:lnTo>
                  <a:pt x="0" y="1370872"/>
                </a:lnTo>
                <a:lnTo>
                  <a:pt x="0" y="0"/>
                </a:lnTo>
                <a:close/>
              </a:path>
            </a:pathLst>
          </a:custGeom>
          <a:blipFill>
            <a:blip r:embed="rId7"/>
            <a:srcRect l="0" t="0" r="0" b="0"/>
            <a:stretch/>
          </a:blipFill>
          <a:ln cap="sq">
            <a:noFill/>
            <a:prstDash val="solid"/>
            <a:miter/>
          </a:ln>
        </p:spPr>
      </p:sp>
      <p:sp>
        <p:nvSpPr>
          <p:cNvPr id="7" name="TextBox 7"/>
          <p:cNvSpPr txBox="1"/>
          <p:nvPr/>
        </p:nvSpPr>
        <p:spPr bwMode="auto">
          <a:xfrm rot="0">
            <a:off x="2759899" y="3753138"/>
            <a:ext cx="9808056" cy="4786998"/>
          </a:xfrm>
          <a:prstGeom prst="rect">
            <a:avLst/>
          </a:prstGeom>
        </p:spPr>
        <p:txBody>
          <a:bodyPr lIns="0" tIns="0" rIns="0" bIns="0" rtlCol="0" anchor="t">
            <a:spAutoFit/>
          </a:bodyPr>
          <a:lstStyle/>
          <a:p>
            <a:pPr algn="l">
              <a:lnSpc>
                <a:spcPts val="3533"/>
              </a:lnSpc>
              <a:defRPr/>
            </a:pPr>
            <a:r>
              <a:rPr lang="en-US" sz="2600" spc="156">
                <a:solidFill>
                  <a:srgbClr val="000000"/>
                </a:solidFill>
                <a:latin typeface="DM Sans"/>
                <a:ea typeface="DM Sans"/>
                <a:cs typeface="DM Sans"/>
              </a:rPr>
              <a:t>As cyber threats evolve, future research can explore:</a:t>
            </a:r>
            <a:endParaRPr/>
          </a:p>
          <a:p>
            <a:pPr algn="l">
              <a:lnSpc>
                <a:spcPts val="3533"/>
              </a:lnSpc>
              <a:defRPr/>
            </a:pPr>
            <a:r>
              <a:rPr lang="en-US" sz="2600" spc="156">
                <a:solidFill>
                  <a:srgbClr val="000000"/>
                </a:solidFill>
                <a:latin typeface="DM Sans"/>
                <a:ea typeface="DM Sans"/>
                <a:cs typeface="DM Sans"/>
              </a:rPr>
              <a:t> 🔸 Deep Learning Models for better attack detection.</a:t>
            </a:r>
            <a:endParaRPr/>
          </a:p>
          <a:p>
            <a:pPr algn="l">
              <a:lnSpc>
                <a:spcPts val="3533"/>
              </a:lnSpc>
              <a:defRPr/>
            </a:pPr>
            <a:r>
              <a:rPr lang="en-US" sz="2600" spc="156">
                <a:solidFill>
                  <a:srgbClr val="000000"/>
                </a:solidFill>
                <a:latin typeface="DM Sans"/>
                <a:ea typeface="DM Sans"/>
                <a:cs typeface="DM Sans"/>
              </a:rPr>
              <a:t> 🔸 Blockchain-based security for tamper-proof data integrity.</a:t>
            </a:r>
            <a:endParaRPr/>
          </a:p>
          <a:p>
            <a:pPr algn="l">
              <a:lnSpc>
                <a:spcPts val="3533"/>
              </a:lnSpc>
              <a:defRPr/>
            </a:pPr>
            <a:r>
              <a:rPr lang="en-US" sz="2600" spc="156">
                <a:solidFill>
                  <a:srgbClr val="000000"/>
                </a:solidFill>
                <a:latin typeface="DM Sans"/>
                <a:ea typeface="DM Sans"/>
                <a:cs typeface="DM Sans"/>
              </a:rPr>
              <a:t> 🔸 Advanced cryptographic methods to prevent unauthorized access.</a:t>
            </a:r>
            <a:endParaRPr/>
          </a:p>
          <a:p>
            <a:pPr algn="l">
              <a:lnSpc>
                <a:spcPts val="3533"/>
              </a:lnSpc>
              <a:defRPr/>
            </a:pPr>
            <a:endParaRPr/>
          </a:p>
          <a:p>
            <a:pPr algn="l">
              <a:lnSpc>
                <a:spcPts val="3533"/>
              </a:lnSpc>
              <a:defRPr/>
            </a:pPr>
            <a:r>
              <a:rPr lang="en-US" sz="2600" spc="156">
                <a:solidFill>
                  <a:srgbClr val="000000"/>
                </a:solidFill>
                <a:latin typeface="DM Sans"/>
                <a:ea typeface="DM Sans"/>
                <a:cs typeface="DM Sans"/>
              </a:rPr>
              <a:t>By adopting proactive security strategies, we can fortify smart grids against cyberattacks and ensure a stable, reliable, and secure power infrastructure.</a:t>
            </a:r>
            <a:endParaRPr/>
          </a:p>
          <a:p>
            <a:pPr marL="0" lvl="0" indent="0" algn="l">
              <a:lnSpc>
                <a:spcPts val="3533"/>
              </a:lnSpc>
              <a:spcBef>
                <a:spcPts val="0"/>
              </a:spcBef>
              <a:defRPr/>
            </a:pPr>
            <a:endParaRPr/>
          </a:p>
        </p:txBody>
      </p:sp>
      <p:sp>
        <p:nvSpPr>
          <p:cNvPr id="8" name="TextBox 8"/>
          <p:cNvSpPr txBox="1"/>
          <p:nvPr/>
        </p:nvSpPr>
        <p:spPr bwMode="auto">
          <a:xfrm rot="0">
            <a:off x="2855460" y="1874320"/>
            <a:ext cx="9297580" cy="668713"/>
          </a:xfrm>
          <a:prstGeom prst="rect">
            <a:avLst/>
          </a:prstGeom>
        </p:spPr>
        <p:txBody>
          <a:bodyPr lIns="0" tIns="0" rIns="0" bIns="0" rtlCol="0" anchor="t">
            <a:spAutoFit/>
          </a:bodyPr>
          <a:lstStyle/>
          <a:p>
            <a:pPr algn="l">
              <a:lnSpc>
                <a:spcPts val="4936"/>
              </a:lnSpc>
              <a:defRPr/>
            </a:pPr>
            <a:r>
              <a:rPr lang="en-US" sz="5100" b="1">
                <a:solidFill>
                  <a:srgbClr val="000000"/>
                </a:solidFill>
                <a:latin typeface="DM Sans Bold"/>
                <a:ea typeface="DM Sans Bold"/>
                <a:cs typeface="DM Sans Bold"/>
              </a:rPr>
              <a:t> Future Scope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1F1F1"/>
        </a:solidFill>
      </p:bgPr>
    </p:bg>
    <p:spTree>
      <p:nvGrpSpPr>
        <p:cNvPr id="1" name=""/>
        <p:cNvGrpSpPr/>
        <p:nvPr/>
      </p:nvGrpSpPr>
      <p:grpSpPr bwMode="auto">
        <a:xfrm>
          <a:off x="0" y="0"/>
          <a:ext cx="0" cy="0"/>
          <a:chOff x="0" y="0"/>
          <a:chExt cx="0" cy="0"/>
        </a:xfrm>
      </p:grpSpPr>
      <p:sp>
        <p:nvSpPr>
          <p:cNvPr id="2" name="Freeform 2"/>
          <p:cNvSpPr/>
          <p:nvPr/>
        </p:nvSpPr>
        <p:spPr bwMode="auto">
          <a:xfrm rot="0" flipH="0" flipV="0">
            <a:off x="-2329398" y="8614893"/>
            <a:ext cx="4899948" cy="3344214"/>
          </a:xfrm>
          <a:custGeom>
            <a:avLst/>
            <a:gdLst/>
            <a:ahLst/>
            <a:cxnLst/>
            <a:rect l="l" t="t" r="r" b="b"/>
            <a:pathLst>
              <a:path w="4899948" h="3344214" fill="norm" stroke="1" extrusionOk="0">
                <a:moveTo>
                  <a:pt x="0" y="0"/>
                </a:moveTo>
                <a:lnTo>
                  <a:pt x="4899947" y="0"/>
                </a:lnTo>
                <a:lnTo>
                  <a:pt x="4899947" y="3344214"/>
                </a:lnTo>
                <a:lnTo>
                  <a:pt x="0" y="3344214"/>
                </a:lnTo>
                <a:lnTo>
                  <a:pt x="0" y="0"/>
                </a:lnTo>
                <a:close/>
              </a:path>
            </a:pathLst>
          </a:custGeom>
          <a:blipFill>
            <a:blip r:embed="rId3"/>
            <a:srcRect l="0" t="0" r="0" b="0"/>
            <a:stretch/>
          </a:blipFill>
        </p:spPr>
      </p:sp>
      <p:sp>
        <p:nvSpPr>
          <p:cNvPr id="3" name="Freeform 3"/>
          <p:cNvSpPr/>
          <p:nvPr/>
        </p:nvSpPr>
        <p:spPr bwMode="auto">
          <a:xfrm rot="0" flipH="0" flipV="0">
            <a:off x="6030709" y="9258300"/>
            <a:ext cx="3059829" cy="751049"/>
          </a:xfrm>
          <a:custGeom>
            <a:avLst/>
            <a:gdLst/>
            <a:ahLst/>
            <a:cxnLst/>
            <a:rect l="l" t="t" r="r" b="b"/>
            <a:pathLst>
              <a:path w="3059829" h="751049" fill="norm" stroke="1" extrusionOk="0">
                <a:moveTo>
                  <a:pt x="0" y="0"/>
                </a:moveTo>
                <a:lnTo>
                  <a:pt x="3059829" y="0"/>
                </a:lnTo>
                <a:lnTo>
                  <a:pt x="3059829" y="751049"/>
                </a:lnTo>
                <a:lnTo>
                  <a:pt x="0" y="751049"/>
                </a:lnTo>
                <a:lnTo>
                  <a:pt x="0" y="0"/>
                </a:lnTo>
                <a:close/>
              </a:path>
            </a:pathLst>
          </a:custGeom>
          <a:blipFill>
            <a:blip r:embed="rId4"/>
            <a:srcRect l="0" t="0" r="0" b="0"/>
            <a:stretch/>
          </a:blipFill>
        </p:spPr>
      </p:sp>
      <p:sp>
        <p:nvSpPr>
          <p:cNvPr id="4" name="Freeform 4"/>
          <p:cNvSpPr/>
          <p:nvPr/>
        </p:nvSpPr>
        <p:spPr bwMode="auto">
          <a:xfrm rot="0" flipH="0" flipV="0">
            <a:off x="14215205" y="8540136"/>
            <a:ext cx="4602314" cy="3618569"/>
          </a:xfrm>
          <a:custGeom>
            <a:avLst/>
            <a:gdLst/>
            <a:ahLst/>
            <a:cxnLst/>
            <a:rect l="l" t="t" r="r" b="b"/>
            <a:pathLst>
              <a:path w="4602314" h="3618569" fill="norm" stroke="1" extrusionOk="0">
                <a:moveTo>
                  <a:pt x="0" y="0"/>
                </a:moveTo>
                <a:lnTo>
                  <a:pt x="4602314" y="0"/>
                </a:lnTo>
                <a:lnTo>
                  <a:pt x="4602314" y="3618570"/>
                </a:lnTo>
                <a:lnTo>
                  <a:pt x="0" y="3618570"/>
                </a:lnTo>
                <a:lnTo>
                  <a:pt x="0" y="0"/>
                </a:lnTo>
                <a:close/>
              </a:path>
            </a:pathLst>
          </a:custGeom>
          <a:blipFill>
            <a:blip r:embed="rId5"/>
            <a:srcRect l="0" t="0" r="0" b="0"/>
            <a:stretch/>
          </a:blipFill>
          <a:ln cap="sq">
            <a:noFill/>
            <a:prstDash val="solid"/>
            <a:miter/>
          </a:ln>
        </p:spPr>
      </p:sp>
      <p:sp>
        <p:nvSpPr>
          <p:cNvPr id="5" name="Freeform 5"/>
          <p:cNvSpPr/>
          <p:nvPr/>
        </p:nvSpPr>
        <p:spPr bwMode="auto">
          <a:xfrm rot="0" flipH="0" flipV="0">
            <a:off x="-674156" y="-1072630"/>
            <a:ext cx="4899948" cy="3068591"/>
          </a:xfrm>
          <a:custGeom>
            <a:avLst/>
            <a:gdLst/>
            <a:ahLst/>
            <a:cxnLst/>
            <a:rect l="l" t="t" r="r" b="b"/>
            <a:pathLst>
              <a:path w="4899948" h="3068592" fill="norm" stroke="1" extrusionOk="0">
                <a:moveTo>
                  <a:pt x="0" y="0"/>
                </a:moveTo>
                <a:lnTo>
                  <a:pt x="4899948" y="0"/>
                </a:lnTo>
                <a:lnTo>
                  <a:pt x="4899948" y="3068592"/>
                </a:lnTo>
                <a:lnTo>
                  <a:pt x="0" y="3068592"/>
                </a:lnTo>
                <a:lnTo>
                  <a:pt x="0" y="0"/>
                </a:lnTo>
                <a:close/>
              </a:path>
            </a:pathLst>
          </a:custGeom>
          <a:blipFill>
            <a:blip r:embed="rId6"/>
            <a:srcRect l="0" t="0" r="0" b="0"/>
            <a:stretch/>
          </a:blipFill>
          <a:ln cap="sq">
            <a:noFill/>
            <a:prstDash val="solid"/>
            <a:miter/>
          </a:ln>
        </p:spPr>
      </p:sp>
      <p:sp>
        <p:nvSpPr>
          <p:cNvPr id="6" name="Freeform 6"/>
          <p:cNvSpPr/>
          <p:nvPr/>
        </p:nvSpPr>
        <p:spPr bwMode="auto">
          <a:xfrm rot="0" flipH="0" flipV="0">
            <a:off x="12686214" y="-2578193"/>
            <a:ext cx="4292424" cy="3870986"/>
          </a:xfrm>
          <a:custGeom>
            <a:avLst/>
            <a:gdLst/>
            <a:ahLst/>
            <a:cxnLst/>
            <a:rect l="l" t="t" r="r" b="b"/>
            <a:pathLst>
              <a:path w="4292424" h="3870986" fill="norm" stroke="1" extrusionOk="0">
                <a:moveTo>
                  <a:pt x="0" y="0"/>
                </a:moveTo>
                <a:lnTo>
                  <a:pt x="4292424" y="0"/>
                </a:lnTo>
                <a:lnTo>
                  <a:pt x="4292424" y="3870986"/>
                </a:lnTo>
                <a:lnTo>
                  <a:pt x="0" y="3870986"/>
                </a:lnTo>
                <a:lnTo>
                  <a:pt x="0" y="0"/>
                </a:lnTo>
                <a:close/>
              </a:path>
            </a:pathLst>
          </a:custGeom>
          <a:blipFill>
            <a:blip r:embed="rId7"/>
            <a:srcRect l="0" t="0" r="0" b="0"/>
            <a:stretch/>
          </a:blipFill>
          <a:ln cap="sq">
            <a:noFill/>
            <a:prstDash val="solid"/>
            <a:miter/>
          </a:ln>
        </p:spPr>
      </p:sp>
      <p:sp>
        <p:nvSpPr>
          <p:cNvPr id="7" name="Freeform 7"/>
          <p:cNvSpPr/>
          <p:nvPr/>
        </p:nvSpPr>
        <p:spPr bwMode="auto">
          <a:xfrm rot="0" flipH="0" flipV="0">
            <a:off x="10138935" y="9258300"/>
            <a:ext cx="4076270" cy="2863579"/>
          </a:xfrm>
          <a:custGeom>
            <a:avLst/>
            <a:gdLst/>
            <a:ahLst/>
            <a:cxnLst/>
            <a:rect l="l" t="t" r="r" b="b"/>
            <a:pathLst>
              <a:path w="4076270" h="2863579" fill="norm" stroke="1" extrusionOk="0">
                <a:moveTo>
                  <a:pt x="0" y="0"/>
                </a:moveTo>
                <a:lnTo>
                  <a:pt x="4076270" y="0"/>
                </a:lnTo>
                <a:lnTo>
                  <a:pt x="4076270" y="2863579"/>
                </a:lnTo>
                <a:lnTo>
                  <a:pt x="0" y="2863579"/>
                </a:lnTo>
                <a:lnTo>
                  <a:pt x="0" y="0"/>
                </a:lnTo>
                <a:close/>
              </a:path>
            </a:pathLst>
          </a:custGeom>
          <a:blipFill>
            <a:blip r:embed="rId8"/>
            <a:srcRect l="0" t="0" r="0" b="0"/>
            <a:stretch/>
          </a:blipFill>
          <a:ln cap="sq">
            <a:noFill/>
            <a:prstDash val="solid"/>
            <a:miter/>
          </a:ln>
        </p:spPr>
      </p:sp>
      <p:sp>
        <p:nvSpPr>
          <p:cNvPr id="8" name="Freeform 8"/>
          <p:cNvSpPr/>
          <p:nvPr/>
        </p:nvSpPr>
        <p:spPr bwMode="auto">
          <a:xfrm rot="0" flipH="0" flipV="0">
            <a:off x="7409323" y="-2700100"/>
            <a:ext cx="5493058" cy="4114800"/>
          </a:xfrm>
          <a:custGeom>
            <a:avLst/>
            <a:gdLst/>
            <a:ahLst/>
            <a:cxnLst/>
            <a:rect l="l" t="t" r="r" b="b"/>
            <a:pathLst>
              <a:path w="5493058" h="4114800" fill="norm" stroke="1" extrusionOk="0">
                <a:moveTo>
                  <a:pt x="0" y="0"/>
                </a:moveTo>
                <a:lnTo>
                  <a:pt x="5493058" y="0"/>
                </a:lnTo>
                <a:lnTo>
                  <a:pt x="5493058" y="4114800"/>
                </a:lnTo>
                <a:lnTo>
                  <a:pt x="0" y="4114800"/>
                </a:lnTo>
                <a:lnTo>
                  <a:pt x="0" y="0"/>
                </a:lnTo>
                <a:close/>
              </a:path>
            </a:pathLst>
          </a:custGeom>
          <a:blipFill>
            <a:blip r:embed="rId9"/>
            <a:srcRect l="0" t="0" r="0" b="0"/>
            <a:stretch/>
          </a:blipFill>
          <a:ln cap="sq">
            <a:noFill/>
            <a:prstDash val="solid"/>
            <a:miter/>
          </a:ln>
        </p:spPr>
      </p:sp>
      <p:sp>
        <p:nvSpPr>
          <p:cNvPr id="9" name="Freeform 9"/>
          <p:cNvSpPr/>
          <p:nvPr/>
        </p:nvSpPr>
        <p:spPr bwMode="auto">
          <a:xfrm rot="4747567" flipH="0" flipV="0">
            <a:off x="-2972342" y="3665317"/>
            <a:ext cx="4896097" cy="2735694"/>
          </a:xfrm>
          <a:custGeom>
            <a:avLst/>
            <a:gdLst/>
            <a:ahLst/>
            <a:cxnLst/>
            <a:rect l="l" t="t" r="r" b="b"/>
            <a:pathLst>
              <a:path w="4896097" h="2735694" fill="norm" stroke="1" extrusionOk="0">
                <a:moveTo>
                  <a:pt x="0" y="0"/>
                </a:moveTo>
                <a:lnTo>
                  <a:pt x="4896097" y="0"/>
                </a:lnTo>
                <a:lnTo>
                  <a:pt x="4896097" y="2735694"/>
                </a:lnTo>
                <a:lnTo>
                  <a:pt x="0" y="2735694"/>
                </a:lnTo>
                <a:lnTo>
                  <a:pt x="0" y="0"/>
                </a:lnTo>
                <a:close/>
              </a:path>
            </a:pathLst>
          </a:custGeom>
          <a:blipFill>
            <a:blip r:embed="rId10"/>
            <a:srcRect l="0" t="0" r="0" b="0"/>
            <a:stretch/>
          </a:blipFill>
          <a:ln cap="sq">
            <a:noFill/>
            <a:prstDash val="solid"/>
            <a:miter/>
          </a:ln>
        </p:spPr>
      </p:sp>
      <p:sp>
        <p:nvSpPr>
          <p:cNvPr id="10" name="Freeform 10"/>
          <p:cNvSpPr/>
          <p:nvPr/>
        </p:nvSpPr>
        <p:spPr bwMode="auto">
          <a:xfrm rot="0" flipH="0" flipV="0">
            <a:off x="4831481" y="-1626507"/>
            <a:ext cx="2892762" cy="2919301"/>
          </a:xfrm>
          <a:custGeom>
            <a:avLst/>
            <a:gdLst/>
            <a:ahLst/>
            <a:cxnLst/>
            <a:rect l="l" t="t" r="r" b="b"/>
            <a:pathLst>
              <a:path w="2892762" h="2919301" fill="norm" stroke="1" extrusionOk="0">
                <a:moveTo>
                  <a:pt x="0" y="0"/>
                </a:moveTo>
                <a:lnTo>
                  <a:pt x="2892761" y="0"/>
                </a:lnTo>
                <a:lnTo>
                  <a:pt x="2892761" y="2919300"/>
                </a:lnTo>
                <a:lnTo>
                  <a:pt x="0" y="2919300"/>
                </a:lnTo>
                <a:lnTo>
                  <a:pt x="0" y="0"/>
                </a:lnTo>
                <a:close/>
              </a:path>
            </a:pathLst>
          </a:custGeom>
          <a:blipFill>
            <a:blip r:embed="rId11"/>
            <a:srcRect l="0" t="0" r="0" b="0"/>
            <a:stretch/>
          </a:blipFill>
          <a:ln cap="sq">
            <a:noFill/>
            <a:prstDash val="solid"/>
            <a:miter/>
          </a:ln>
        </p:spPr>
      </p:sp>
      <p:sp>
        <p:nvSpPr>
          <p:cNvPr id="11" name="Freeform 11"/>
          <p:cNvSpPr/>
          <p:nvPr/>
        </p:nvSpPr>
        <p:spPr bwMode="auto">
          <a:xfrm rot="0" flipH="0" flipV="0">
            <a:off x="17259300" y="2262342"/>
            <a:ext cx="3575541" cy="3575541"/>
          </a:xfrm>
          <a:custGeom>
            <a:avLst/>
            <a:gdLst/>
            <a:ahLst/>
            <a:cxnLst/>
            <a:rect l="l" t="t" r="r" b="b"/>
            <a:pathLst>
              <a:path w="3575541" h="3575541" fill="norm" stroke="1" extrusionOk="0">
                <a:moveTo>
                  <a:pt x="0" y="0"/>
                </a:moveTo>
                <a:lnTo>
                  <a:pt x="3575541" y="0"/>
                </a:lnTo>
                <a:lnTo>
                  <a:pt x="3575541" y="3575541"/>
                </a:lnTo>
                <a:lnTo>
                  <a:pt x="0" y="3575541"/>
                </a:lnTo>
                <a:lnTo>
                  <a:pt x="0" y="0"/>
                </a:lnTo>
                <a:close/>
              </a:path>
            </a:pathLst>
          </a:custGeom>
          <a:blipFill>
            <a:blip r:embed="rId12"/>
            <a:srcRect l="0" t="0" r="0" b="0"/>
            <a:stretch/>
          </a:blipFill>
          <a:ln cap="sq">
            <a:noFill/>
            <a:prstDash val="solid"/>
            <a:miter/>
          </a:ln>
        </p:spPr>
      </p:sp>
      <p:sp>
        <p:nvSpPr>
          <p:cNvPr id="12" name="Freeform 12"/>
          <p:cNvSpPr/>
          <p:nvPr/>
        </p:nvSpPr>
        <p:spPr bwMode="auto">
          <a:xfrm rot="0" flipH="0" flipV="0">
            <a:off x="2570549" y="9093737"/>
            <a:ext cx="2587020" cy="2386526"/>
          </a:xfrm>
          <a:custGeom>
            <a:avLst/>
            <a:gdLst/>
            <a:ahLst/>
            <a:cxnLst/>
            <a:rect l="l" t="t" r="r" b="b"/>
            <a:pathLst>
              <a:path w="2587020" h="2386526" fill="norm" stroke="1" extrusionOk="0">
                <a:moveTo>
                  <a:pt x="0" y="0"/>
                </a:moveTo>
                <a:lnTo>
                  <a:pt x="2587020" y="0"/>
                </a:lnTo>
                <a:lnTo>
                  <a:pt x="2587020" y="2386526"/>
                </a:lnTo>
                <a:lnTo>
                  <a:pt x="0" y="2386526"/>
                </a:lnTo>
                <a:lnTo>
                  <a:pt x="0" y="0"/>
                </a:lnTo>
                <a:close/>
              </a:path>
            </a:pathLst>
          </a:custGeom>
          <a:blipFill>
            <a:blip r:embed="rId13"/>
            <a:srcRect l="0" t="0" r="0" b="0"/>
            <a:stretch/>
          </a:blipFill>
          <a:ln cap="sq">
            <a:noFill/>
            <a:prstDash val="solid"/>
            <a:miter/>
          </a:ln>
        </p:spPr>
      </p:sp>
      <p:sp>
        <p:nvSpPr>
          <p:cNvPr id="13" name="Freeform 13"/>
          <p:cNvSpPr/>
          <p:nvPr/>
        </p:nvSpPr>
        <p:spPr bwMode="auto">
          <a:xfrm rot="-5282649" flipH="0" flipV="0">
            <a:off x="16440369" y="6970869"/>
            <a:ext cx="3382987" cy="1154444"/>
          </a:xfrm>
          <a:custGeom>
            <a:avLst/>
            <a:gdLst/>
            <a:ahLst/>
            <a:cxnLst/>
            <a:rect l="l" t="t" r="r" b="b"/>
            <a:pathLst>
              <a:path w="3382987" h="1154444" fill="norm" stroke="1" extrusionOk="0">
                <a:moveTo>
                  <a:pt x="0" y="0"/>
                </a:moveTo>
                <a:lnTo>
                  <a:pt x="3382987" y="0"/>
                </a:lnTo>
                <a:lnTo>
                  <a:pt x="3382987" y="1154445"/>
                </a:lnTo>
                <a:lnTo>
                  <a:pt x="0" y="1154445"/>
                </a:lnTo>
                <a:lnTo>
                  <a:pt x="0" y="0"/>
                </a:lnTo>
                <a:close/>
              </a:path>
            </a:pathLst>
          </a:custGeom>
          <a:blipFill>
            <a:blip r:embed="rId14"/>
            <a:srcRect l="0" t="0" r="0" b="0"/>
            <a:stretch/>
          </a:blipFill>
          <a:ln cap="sq">
            <a:noFill/>
            <a:prstDash val="solid"/>
            <a:miter/>
          </a:ln>
        </p:spPr>
      </p:sp>
      <p:sp>
        <p:nvSpPr>
          <p:cNvPr id="14" name="Freeform 14"/>
          <p:cNvSpPr/>
          <p:nvPr/>
        </p:nvSpPr>
        <p:spPr bwMode="auto">
          <a:xfrm rot="0" flipH="0" flipV="0">
            <a:off x="16978638" y="-642644"/>
            <a:ext cx="3104522" cy="3342688"/>
          </a:xfrm>
          <a:custGeom>
            <a:avLst/>
            <a:gdLst/>
            <a:ahLst/>
            <a:cxnLst/>
            <a:rect l="l" t="t" r="r" b="b"/>
            <a:pathLst>
              <a:path w="3104522" h="3342688" fill="norm" stroke="1" extrusionOk="0">
                <a:moveTo>
                  <a:pt x="0" y="0"/>
                </a:moveTo>
                <a:lnTo>
                  <a:pt x="3104522" y="0"/>
                </a:lnTo>
                <a:lnTo>
                  <a:pt x="3104522" y="3342688"/>
                </a:lnTo>
                <a:lnTo>
                  <a:pt x="0" y="3342688"/>
                </a:lnTo>
                <a:lnTo>
                  <a:pt x="0" y="0"/>
                </a:lnTo>
                <a:close/>
              </a:path>
            </a:pathLst>
          </a:custGeom>
          <a:blipFill>
            <a:blip r:embed="rId15"/>
            <a:srcRect l="0" t="0" r="0" b="0"/>
            <a:stretch/>
          </a:blipFill>
          <a:ln cap="sq">
            <a:noFill/>
            <a:prstDash val="solid"/>
            <a:miter/>
          </a:ln>
        </p:spPr>
      </p:sp>
      <p:sp>
        <p:nvSpPr>
          <p:cNvPr id="15" name="TextBox 15"/>
          <p:cNvSpPr txBox="1"/>
          <p:nvPr/>
        </p:nvSpPr>
        <p:spPr bwMode="auto">
          <a:xfrm rot="0">
            <a:off x="3688802" y="3824729"/>
            <a:ext cx="10910396" cy="1754786"/>
          </a:xfrm>
          <a:prstGeom prst="rect">
            <a:avLst/>
          </a:prstGeom>
        </p:spPr>
        <p:txBody>
          <a:bodyPr lIns="0" tIns="0" rIns="0" bIns="0" rtlCol="0" anchor="t">
            <a:spAutoFit/>
          </a:bodyPr>
          <a:lstStyle/>
          <a:p>
            <a:pPr algn="ctr">
              <a:lnSpc>
                <a:spcPts val="12699"/>
              </a:lnSpc>
              <a:defRPr/>
            </a:pPr>
            <a:r>
              <a:rPr lang="en-US" sz="14600" b="1">
                <a:solidFill>
                  <a:srgbClr val="000000"/>
                </a:solidFill>
                <a:latin typeface="DM Sans Bold"/>
                <a:ea typeface="DM Sans Bold"/>
                <a:cs typeface="DM Sans Bold"/>
              </a:rPr>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ONLYOFFICE/8.3.2.19</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False Data Injection in Smart Grid</dc:title>
  <dc:identifier>DAGg-WHqdRA</dc:identifier>
  <cp:lastModifiedBy/>
  <cp:revision>2</cp:revision>
  <dcterms:created xsi:type="dcterms:W3CDTF">2006-08-16T00:00:00Z</dcterms:created>
  <dcterms:modified xsi:type="dcterms:W3CDTF">2025-04-17T03:22:13Z</dcterms:modified>
</cp:coreProperties>
</file>